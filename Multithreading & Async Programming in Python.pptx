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7" r:id="rId7"/>
    <p:sldId id="279" r:id="rId8"/>
    <p:sldId id="280" r:id="rId9"/>
    <p:sldId id="281" r:id="rId10"/>
    <p:sldId id="282" r:id="rId11"/>
    <p:sldId id="278" r:id="rId12"/>
    <p:sldId id="272" r:id="rId13"/>
    <p:sldId id="273" r:id="rId14"/>
    <p:sldId id="266" r:id="rId15"/>
    <p:sldId id="259" r:id="rId16"/>
    <p:sldId id="260" r:id="rId17"/>
    <p:sldId id="261" r:id="rId18"/>
    <p:sldId id="258" r:id="rId19"/>
    <p:sldId id="257" r:id="rId20"/>
    <p:sldId id="268" r:id="rId21"/>
    <p:sldId id="269" r:id="rId22"/>
    <p:sldId id="270" r:id="rId23"/>
    <p:sldId id="283" r:id="rId24"/>
    <p:sldId id="284" r:id="rId25"/>
    <p:sldId id="271" r:id="rId26"/>
    <p:sldId id="274" r:id="rId27"/>
    <p:sldId id="275" r:id="rId28"/>
    <p:sldId id="276" r:id="rId29"/>
    <p:sldId id="277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954722-D87D-42ED-BCD2-7928A506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131BA7F-5588-4C2B-87F9-2900BD9E6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B10167-FDB4-4C60-9119-1FF8C8AA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577BB27-2441-4C65-BDBE-4E36F8CF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12CE53-1BB5-4C0A-9CA0-45E275BF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726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48917F-3E80-4951-8849-CFDE9DA8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CA2933-3BF3-4EBC-8634-70F46F4E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E3BFFC2-5E71-472B-9554-B82894CD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8682B41-CC67-4518-BEC2-1FE29C3F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ACA4A23-FCD6-4598-A267-A33C8635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834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A87D08-A0D6-448A-A4A6-E052355A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704E87D-5899-4187-A375-F8F8843B9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A94395-257A-481E-8D0D-C5F63D0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8EE6B0-F05F-4547-8EE2-CD1D3FE2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B68A1DD-0F10-4064-B618-214E83A0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369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55841B-D9A0-4C4B-8425-F1D0D6E1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85316BF-2215-4D47-9A1A-940E25668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04F8BCC-1E64-46A0-9FE7-5F21A38C6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F49E195-89CF-4E93-8AE3-EF7E321D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1526A18-F830-41FF-BCB6-CFB2B08C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C74E3B1-365F-42DC-83AF-62C981F3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515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45C3B9-FB6B-48B1-B118-182F395E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6E8DF7-4124-4C74-A573-E9C48CA04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043E12B-95FE-4D02-89AE-406B4F33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CBCD279-53CF-49B3-8A46-31B0D76C5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057C02D-A8F6-4A88-B8B8-E23483A27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A7D4707-3A7B-4646-9E9D-7301D515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35F1848-C925-4F78-9A0E-947DDF74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4FA8F41-7EF0-41E7-B9F8-74CE2BD4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538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E2A565-0615-4C6E-99D4-5CAD7027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7A99CC6-CFCA-439D-B64D-407E5AA2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47D87D-1B2C-48F4-8B18-AB91A86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0717B95-22BC-40E0-AEC6-4BB614FA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499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2E657FB-F2C8-4D3D-AFCF-27BC5C47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A46B4DA-A007-48E0-A9D6-B9D45AF5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8F01C0C-AE1F-4BAF-8C6F-144CCAEB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789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9271D6-6722-4126-BD65-FCDE3FA4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33A491-3A91-47D4-9A97-FAD080CB2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FAA2132-D9ED-4906-968D-201F574E4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185172-7C3D-4B49-AE96-C31CF3FD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91C342D-5AF0-4E5F-9A70-78D1CCDF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15835F-04A2-46E4-B881-DA6520DA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969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1012CB-F6AE-4D13-995C-3CFDBE08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1186BFA-D564-4483-836F-5731F7333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B52B4C7-EA38-4113-BD4E-70ECF57A2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178F32-D8D5-4BB6-B420-7A4961DA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7D82E7A-F382-497A-9CFC-E395BCC2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62C0E05-3354-469A-906B-B7775EAE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410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1D8CD5-5802-4B89-B342-A1B174FD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60F26E2-7C25-418F-8E69-09CE6AC6A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4B7409-27A8-4F88-BEE2-5A386EA8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CBC4EA-2016-48A1-B041-09CCC2B2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DAE9056-B40C-4769-BB56-8D74A8E5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083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3208797-7B16-4D70-95E8-0B90191D6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0A4F46D-F760-4C2B-9B71-F1BF7C2DA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F67D5AA-3354-4AEA-9042-252537B7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F437350-042B-426C-87B4-65476766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D3A89C3-4466-4BC2-AE9B-F1E21066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628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D1302F1-1009-4116-9C62-EC939EDD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52B45BE-04DD-4402-93C0-AAEFE31D0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750744-B1F9-47EA-8229-E2E1BE88E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5A123-2B88-452C-83F4-D5B822076F96}" type="datetimeFigureOut">
              <a:rPr lang="he-IL" smtClean="0"/>
              <a:t>כ"ב/חשון/תשפ"ו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B3D0B1-CBEE-4BB4-A801-3D07627A4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8B5F81-9566-41A8-9ACC-EA9B4B83B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627BC-DBA5-4E33-BE68-CA6E4BA61C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83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DC3183-ED03-4ACA-8533-FE50725D7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Multithreading &amp; Async Programming in Python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72F450-1732-4D67-9C0A-7B95C9CC8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ריבוי תהליכים ותכנות אסינכרוני </a:t>
            </a:r>
            <a:r>
              <a:rPr lang="he-IL" dirty="0" err="1"/>
              <a:t>בפייתון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1463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1A22B4-7560-41BB-BCD3-C27EC8C3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BEF444-5EF3-4987-B671-E6B418141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מהו ה־CPU?</a:t>
            </a:r>
            <a:endParaRPr kumimoji="0" lang="he-IL" altLang="he-IL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הגדרה: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ה־CPU (Central Processing Unit) הוא "המוח" של המחשב.</a:t>
            </a:r>
            <a:b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תפקידו לבצע הוראות (Instructions) אחת־אחת, בצורה מהירה ומדויקת.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מה ה־CPU עושה בפועל: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טוען הוראה מהזיכרון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מפרש מה צריך לעשות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מבצע את הפעולה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למשל: חישוב מתמטי, העתקת נתונים, כתיבה לזיכרון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עובר להוראה הבאה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תהליך זה נקרא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מחזור פקודה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(Instruction Cycle).</a:t>
            </a:r>
          </a:p>
        </p:txBody>
      </p:sp>
    </p:spTree>
    <p:extLst>
      <p:ext uri="{BB962C8B-B14F-4D97-AF65-F5344CB8AC3E}">
        <p14:creationId xmlns:p14="http://schemas.microsoft.com/office/powerpoint/2010/main" val="309946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F60E01-A1C3-43D2-8117-2CB02384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45D63A-C0A5-4C92-BAEA-295F8ED3C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שקופית 2: איך ה־</a:t>
            </a:r>
            <a:r>
              <a:rPr lang="en-US" b="1" dirty="0"/>
              <a:t>CPU </a:t>
            </a:r>
            <a:r>
              <a:rPr lang="he-IL" b="1" dirty="0"/>
              <a:t>מבצע הוראות?</a:t>
            </a:r>
          </a:p>
          <a:p>
            <a:r>
              <a:rPr lang="he-IL" dirty="0"/>
              <a:t>ה־</a:t>
            </a:r>
            <a:r>
              <a:rPr lang="en-US" dirty="0"/>
              <a:t>CPU </a:t>
            </a:r>
            <a:r>
              <a:rPr lang="he-IL" dirty="0"/>
              <a:t>עובד על עיקרון של</a:t>
            </a:r>
            <a:br>
              <a:rPr lang="he-IL" dirty="0"/>
            </a:br>
            <a:r>
              <a:rPr lang="he-IL" b="1" dirty="0"/>
              <a:t>"צעד אחרי צעד"</a:t>
            </a:r>
            <a:br>
              <a:rPr lang="he-IL" dirty="0"/>
            </a:br>
            <a:r>
              <a:rPr lang="en-US" dirty="0"/>
              <a:t>Instruction → Instruction → Instruction</a:t>
            </a:r>
          </a:p>
          <a:p>
            <a:r>
              <a:rPr lang="he-IL" dirty="0"/>
              <a:t>אפילו מעבדים מודרניים שעובדים במהירות של </a:t>
            </a:r>
            <a:r>
              <a:rPr lang="he-IL" b="1" dirty="0"/>
              <a:t>מיליארדי פעולות בשנייה</a:t>
            </a:r>
            <a:br>
              <a:rPr lang="he-IL" dirty="0"/>
            </a:br>
            <a:r>
              <a:rPr lang="he-IL" dirty="0"/>
              <a:t>עדיין מבצעים </a:t>
            </a:r>
            <a:r>
              <a:rPr lang="he-IL" i="1" dirty="0"/>
              <a:t>רק פעולה לוגית אחת בכל רגע יחיד</a:t>
            </a:r>
            <a:r>
              <a:rPr lang="he-IL" dirty="0"/>
              <a:t>.</a:t>
            </a:r>
          </a:p>
          <a:p>
            <a:r>
              <a:rPr lang="he-IL" dirty="0"/>
              <a:t>זה הבסיס להבנה של כל עולם ה־</a:t>
            </a:r>
            <a:r>
              <a:rPr lang="en-US" dirty="0"/>
              <a:t>Concurrency </a:t>
            </a:r>
            <a:r>
              <a:rPr lang="he-IL" dirty="0" err="1"/>
              <a:t>וה</a:t>
            </a:r>
            <a:r>
              <a:rPr lang="he-IL" dirty="0"/>
              <a:t>־</a:t>
            </a:r>
            <a:r>
              <a:rPr lang="en-US" dirty="0"/>
              <a:t>Parallelism.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0085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17D078-36BF-4503-AFFE-87DAE6E18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0ACFF3-6211-4BD1-9EB3-65C786D30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b="1" dirty="0"/>
              <a:t>ליבות (</a:t>
            </a:r>
            <a:r>
              <a:rPr lang="en-US" b="1" dirty="0"/>
              <a:t>Cores) — </a:t>
            </a:r>
            <a:r>
              <a:rPr lang="he-IL" b="1" dirty="0"/>
              <a:t>איך הן קשורות?</a:t>
            </a:r>
          </a:p>
          <a:p>
            <a:r>
              <a:rPr lang="he-IL" dirty="0"/>
              <a:t>בעבר היה למעבד </a:t>
            </a:r>
            <a:r>
              <a:rPr lang="he-IL" b="1" dirty="0"/>
              <a:t>ליבה אחת בלבד</a:t>
            </a:r>
            <a:r>
              <a:rPr lang="he-IL" dirty="0"/>
              <a:t>, ולכן הוא באמת היה מסוגל לבצע רק פעולה אחת בכל רגע.</a:t>
            </a:r>
          </a:p>
          <a:p>
            <a:r>
              <a:rPr lang="he-IL" dirty="0"/>
              <a:t>כיום רוב המעבדים כוללים:</a:t>
            </a:r>
          </a:p>
          <a:p>
            <a:r>
              <a:rPr lang="he-IL" dirty="0"/>
              <a:t>2 ליבות</a:t>
            </a:r>
          </a:p>
          <a:p>
            <a:r>
              <a:rPr lang="he-IL" dirty="0"/>
              <a:t>4 ליבות</a:t>
            </a:r>
          </a:p>
          <a:p>
            <a:r>
              <a:rPr lang="he-IL" dirty="0"/>
              <a:t>8 ליבות</a:t>
            </a:r>
          </a:p>
          <a:p>
            <a:r>
              <a:rPr lang="he-IL" dirty="0"/>
              <a:t>או יותר (שרתים יכולים לכלול עשרות)</a:t>
            </a:r>
          </a:p>
          <a:p>
            <a:r>
              <a:rPr lang="he-IL" b="1" dirty="0"/>
              <a:t>כל ליבה</a:t>
            </a:r>
            <a:r>
              <a:rPr lang="he-IL" dirty="0"/>
              <a:t> יכולה לבצע הוראות בעצמה.</a:t>
            </a:r>
          </a:p>
          <a:p>
            <a:r>
              <a:rPr lang="he-IL" dirty="0"/>
              <a:t>לכן:</a:t>
            </a:r>
          </a:p>
          <a:p>
            <a:r>
              <a:rPr lang="he-IL" dirty="0"/>
              <a:t>מעבד עם ליבה יחידה → </a:t>
            </a:r>
            <a:r>
              <a:rPr lang="he-IL" i="1" dirty="0"/>
              <a:t>אין </a:t>
            </a:r>
            <a:r>
              <a:rPr lang="en-US" i="1" dirty="0"/>
              <a:t>Parallelism </a:t>
            </a:r>
            <a:r>
              <a:rPr lang="he-IL" i="1" dirty="0" err="1"/>
              <a:t>אמיתי</a:t>
            </a:r>
            <a:endParaRPr lang="he-IL" dirty="0"/>
          </a:p>
          <a:p>
            <a:r>
              <a:rPr lang="he-IL" dirty="0"/>
              <a:t>מעבד עם 4 ליבות → יכול לבצע עד 4 משימות כבדות </a:t>
            </a:r>
            <a:r>
              <a:rPr lang="he-IL" i="1" dirty="0"/>
              <a:t>בו־זמנית</a:t>
            </a: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7188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B7FD37-2D76-497D-A358-4DDA91E3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3124D5-D395-4462-B5AE-380301A8E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he-IL" altLang="he-IL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זמן מעבד</a:t>
            </a:r>
            <a:r>
              <a:rPr kumimoji="0" lang="he-IL" altLang="he-IL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גם אם למעבד יש כמה ליבות, מספר המשימות תמיד גדול פי 1000 מטווח הליבות.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לכן: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מערכת ההפעלה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מחלקת את הזמן בין המשימות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כל משימה מקבלת "Slice" קטן של כמה מילי־שניות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המעבד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קופץ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בין המשימות במהירות עצומה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התוצאה: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נראה כאילו כל המשימות רצות במקביל — גם אם למעשה לא.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זה הבסיס ל־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Concurrency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793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C566C7-BF71-40C4-B79E-353B50BA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11548F-2332-402B-AC4F-C79F63E9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b="1" dirty="0"/>
              <a:t>מכאן נולד הצורך במושג </a:t>
            </a:r>
            <a:r>
              <a:rPr lang="en-US" b="1" dirty="0"/>
              <a:t>Thread</a:t>
            </a:r>
          </a:p>
          <a:p>
            <a:r>
              <a:rPr lang="en-US" b="1" dirty="0"/>
              <a:t>Thread</a:t>
            </a:r>
            <a:r>
              <a:rPr lang="en-US" dirty="0"/>
              <a:t> = "</a:t>
            </a:r>
            <a:r>
              <a:rPr lang="he-IL" dirty="0"/>
              <a:t>קו ריצה"</a:t>
            </a:r>
            <a:br>
              <a:rPr lang="he-IL" dirty="0"/>
            </a:br>
            <a:r>
              <a:rPr lang="he-IL" dirty="0"/>
              <a:t>הוא רצף של הוראות שמערכת ההפעלה יכולה לתזמן באופן עצמאי.</a:t>
            </a:r>
          </a:p>
          <a:p>
            <a:r>
              <a:rPr lang="he-IL" b="1" dirty="0"/>
              <a:t>כל </a:t>
            </a:r>
            <a:r>
              <a:rPr lang="en-US" b="1" dirty="0"/>
              <a:t>Thread </a:t>
            </a:r>
            <a:r>
              <a:rPr lang="he-IL" b="1" dirty="0"/>
              <a:t>יכול לקבל זמן על ה־</a:t>
            </a:r>
            <a:r>
              <a:rPr lang="en-US" b="1" dirty="0"/>
              <a:t>CPU.</a:t>
            </a:r>
            <a:endParaRPr lang="en-US" dirty="0"/>
          </a:p>
          <a:p>
            <a:r>
              <a:rPr lang="he-IL" dirty="0"/>
              <a:t>בתהליך אחד יכולים להיות:</a:t>
            </a:r>
          </a:p>
          <a:p>
            <a:r>
              <a:rPr lang="en-US" dirty="0"/>
              <a:t>Thread </a:t>
            </a:r>
            <a:r>
              <a:rPr lang="he-IL" dirty="0"/>
              <a:t>אחד</a:t>
            </a:r>
          </a:p>
          <a:p>
            <a:r>
              <a:rPr lang="he-IL" dirty="0"/>
              <a:t>או עשרות </a:t>
            </a:r>
            <a:r>
              <a:rPr lang="en-US" dirty="0"/>
              <a:t>Threads</a:t>
            </a:r>
          </a:p>
          <a:p>
            <a:r>
              <a:rPr lang="he-IL" dirty="0"/>
              <a:t>ה־</a:t>
            </a:r>
            <a:r>
              <a:rPr lang="en-US" dirty="0"/>
              <a:t>CPU </a:t>
            </a:r>
            <a:r>
              <a:rPr lang="he-IL" i="1" dirty="0"/>
              <a:t>עדיין עושה רק פעולה אחת בכל רגע</a:t>
            </a:r>
            <a:r>
              <a:rPr lang="he-IL" dirty="0"/>
              <a:t>, אבל מערכת ההפעלה:</a:t>
            </a:r>
          </a:p>
          <a:p>
            <a:r>
              <a:rPr lang="he-IL" dirty="0"/>
              <a:t>מקפיצה בין </a:t>
            </a:r>
            <a:r>
              <a:rPr lang="en-US" dirty="0"/>
              <a:t>Threads</a:t>
            </a:r>
          </a:p>
          <a:p>
            <a:r>
              <a:rPr lang="he-IL" dirty="0"/>
              <a:t>מנצלת זמן מת (כמו המתנה לקלט/רשת)</a:t>
            </a:r>
          </a:p>
          <a:p>
            <a:r>
              <a:rPr lang="he-IL" dirty="0"/>
              <a:t>מנהלת את חלוקת המשאבים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4190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8C8D4C-7F4C-43F9-8B3C-BF609EAF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9B74826-85AE-48E3-8509-7DF2C2918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מהו </a:t>
            </a:r>
            <a:r>
              <a:rPr lang="en-US" dirty="0"/>
              <a:t>Process (</a:t>
            </a:r>
            <a:r>
              <a:rPr lang="he-IL" dirty="0"/>
              <a:t>תהליך)</a:t>
            </a:r>
            <a:r>
              <a:rPr lang="he-IL" dirty="0" err="1"/>
              <a:t>הגדרה:תהליך</a:t>
            </a:r>
            <a:r>
              <a:rPr lang="he-IL" dirty="0"/>
              <a:t> הוא מופע עצמאי של תוכנה רצה </a:t>
            </a:r>
            <a:r>
              <a:rPr lang="he-IL" dirty="0" err="1"/>
              <a:t>בזיכרון.לכל</a:t>
            </a:r>
            <a:r>
              <a:rPr lang="he-IL" dirty="0"/>
              <a:t> תהליך יש מרחב זיכרון משלו, משאבים משלו (כמו קבצים פתוחים), ו־</a:t>
            </a:r>
            <a:r>
              <a:rPr lang="en-US" dirty="0"/>
              <a:t>Thread </a:t>
            </a:r>
            <a:r>
              <a:rPr lang="he-IL" dirty="0"/>
              <a:t>ראשי אחד </a:t>
            </a:r>
            <a:r>
              <a:rPr lang="he-IL" dirty="0" err="1"/>
              <a:t>לפחות.מאפיינים:מבודד</a:t>
            </a:r>
            <a:r>
              <a:rPr lang="he-IL" dirty="0"/>
              <a:t> מתהליכים אחרים – אין שיתוף ישיר של </a:t>
            </a:r>
            <a:r>
              <a:rPr lang="he-IL" dirty="0" err="1"/>
              <a:t>זיכרון.קריסה</a:t>
            </a:r>
            <a:r>
              <a:rPr lang="he-IL" dirty="0"/>
              <a:t> בתהליך אחד אינה משפיעה על </a:t>
            </a:r>
            <a:r>
              <a:rPr lang="he-IL" dirty="0" err="1"/>
              <a:t>אחרים.תקשורת</a:t>
            </a:r>
            <a:r>
              <a:rPr lang="he-IL" dirty="0"/>
              <a:t> בין תהליכים (</a:t>
            </a:r>
            <a:r>
              <a:rPr lang="en-US" dirty="0"/>
              <a:t>IPC – Inter Process Communication) </a:t>
            </a:r>
            <a:r>
              <a:rPr lang="he-IL" dirty="0"/>
              <a:t>דורשת מנגנונים מיוחדים כמו </a:t>
            </a:r>
            <a:r>
              <a:rPr lang="en-US" dirty="0"/>
              <a:t>pipes, queues </a:t>
            </a:r>
            <a:r>
              <a:rPr lang="he-IL" dirty="0"/>
              <a:t>או </a:t>
            </a:r>
            <a:r>
              <a:rPr lang="en-US" dirty="0"/>
              <a:t>sockets.</a:t>
            </a:r>
            <a:r>
              <a:rPr lang="he-IL" dirty="0" err="1"/>
              <a:t>דוגמה:כאשר</a:t>
            </a:r>
            <a:r>
              <a:rPr lang="he-IL" dirty="0"/>
              <a:t> אתה פותח את </a:t>
            </a:r>
            <a:r>
              <a:rPr lang="en-US" dirty="0"/>
              <a:t>Chrome, </a:t>
            </a:r>
            <a:r>
              <a:rPr lang="he-IL" dirty="0"/>
              <a:t>נפתח תהליך </a:t>
            </a:r>
            <a:r>
              <a:rPr lang="he-IL" dirty="0" err="1"/>
              <a:t>נפרד.כל</a:t>
            </a:r>
            <a:r>
              <a:rPr lang="he-IL" dirty="0"/>
              <a:t> לשונית (</a:t>
            </a:r>
            <a:r>
              <a:rPr lang="en-US" dirty="0"/>
              <a:t>tab) </a:t>
            </a:r>
            <a:r>
              <a:rPr lang="he-IL" dirty="0"/>
              <a:t>יכולה גם להיות תהליך עצמאי.</a:t>
            </a:r>
          </a:p>
        </p:txBody>
      </p:sp>
    </p:spTree>
    <p:extLst>
      <p:ext uri="{BB962C8B-B14F-4D97-AF65-F5344CB8AC3E}">
        <p14:creationId xmlns:p14="http://schemas.microsoft.com/office/powerpoint/2010/main" val="150099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BEB45D-3E6A-4F3A-AAF4-6B238B7D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E9EE92-BD96-4EE4-8FBF-F590B974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מהו </a:t>
            </a:r>
            <a:r>
              <a:rPr lang="en-US" dirty="0"/>
              <a:t>Thread (</a:t>
            </a:r>
            <a:r>
              <a:rPr lang="he-IL" dirty="0"/>
              <a:t>שרשור)הגדרה:</a:t>
            </a:r>
            <a:r>
              <a:rPr lang="en-US" dirty="0"/>
              <a:t>Thread </a:t>
            </a:r>
            <a:r>
              <a:rPr lang="he-IL" dirty="0"/>
              <a:t>הוא “קו ריצה” בתוך תהליך – יחידת ביצוע קלה יותר שחולקת את הזיכרון עם יתר השרשורים באותו </a:t>
            </a:r>
            <a:r>
              <a:rPr lang="he-IL" dirty="0" err="1"/>
              <a:t>תהליך.מאפיינים:כל</a:t>
            </a:r>
            <a:r>
              <a:rPr lang="he-IL" dirty="0"/>
              <a:t> </a:t>
            </a:r>
            <a:r>
              <a:rPr lang="en-US" dirty="0"/>
              <a:t>Thread </a:t>
            </a:r>
            <a:r>
              <a:rPr lang="he-IL" dirty="0"/>
              <a:t>משתמש באותו קוד, משתנים, וקבצים פתוחים של </a:t>
            </a:r>
            <a:r>
              <a:rPr lang="he-IL" dirty="0" err="1"/>
              <a:t>התהליך.מאפשר</a:t>
            </a:r>
            <a:r>
              <a:rPr lang="he-IL" dirty="0"/>
              <a:t> ריבוי משימות בתוך אותו תהליך, ללא צורך בהעתקת </a:t>
            </a:r>
            <a:r>
              <a:rPr lang="he-IL" dirty="0" err="1"/>
              <a:t>זיכרון.ניהול</a:t>
            </a:r>
            <a:r>
              <a:rPr lang="he-IL" dirty="0"/>
              <a:t> שרשורים מהיר יותר מניהול </a:t>
            </a:r>
            <a:r>
              <a:rPr lang="he-IL" dirty="0" err="1"/>
              <a:t>תהליכים.דוגמה:בדפדפן</a:t>
            </a:r>
            <a:r>
              <a:rPr lang="he-IL" dirty="0"/>
              <a:t>, </a:t>
            </a:r>
            <a:r>
              <a:rPr lang="en-US" dirty="0"/>
              <a:t>Thread </a:t>
            </a:r>
            <a:r>
              <a:rPr lang="he-IL" dirty="0"/>
              <a:t>אחד אחראי על הצגת הדף, ואחר על הורדת משאבים </a:t>
            </a:r>
            <a:r>
              <a:rPr lang="he-IL" dirty="0" err="1"/>
              <a:t>מהאינטרנט.כך</a:t>
            </a:r>
            <a:r>
              <a:rPr lang="he-IL" dirty="0"/>
              <a:t> המשתמש ממשיך לגלול גם בזמן שטעינה נמשכת.</a:t>
            </a:r>
          </a:p>
        </p:txBody>
      </p:sp>
    </p:spTree>
    <p:extLst>
      <p:ext uri="{BB962C8B-B14F-4D97-AF65-F5344CB8AC3E}">
        <p14:creationId xmlns:p14="http://schemas.microsoft.com/office/powerpoint/2010/main" val="116850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0B86B9-8054-4E7D-8282-549BF3EB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A142984F-FFF5-4FDD-83B7-DBAF9BEA3B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186872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17917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9297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מאפיין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257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זיכרון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עצמאי – כל תהליך עם מרחב זיכרון נפרד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משותף – כל השרשורים חולקים את אותו זיכרון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2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תקשורת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באמצעות </a:t>
                      </a:r>
                      <a:r>
                        <a:rPr lang="en-US"/>
                        <a:t>IPC (</a:t>
                      </a:r>
                      <a:r>
                        <a:rPr lang="he-IL"/>
                        <a:t>איטי יותר)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גישה ישירה למשתנים (מהיר יותר אך מסוכן)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12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יצירה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כבדה (דורשת הקצאת זיכרון חדש)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קלה ומהירה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89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יציבות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קריסה לא משפיעה על אחרים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קריסה ב־</a:t>
                      </a:r>
                      <a:r>
                        <a:rPr lang="en-US"/>
                        <a:t>Thread </a:t>
                      </a:r>
                      <a:r>
                        <a:rPr lang="he-IL"/>
                        <a:t>עלולה להפיל את כל התהליך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32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שימוש עיקרי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חישובים עצמאיים, </a:t>
                      </a:r>
                      <a:r>
                        <a:rPr lang="en-US"/>
                        <a:t>Parallelism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ניהול מספר משימות קלות באותו קוד, </a:t>
                      </a:r>
                      <a:r>
                        <a:rPr lang="en-US" dirty="0"/>
                        <a:t>Concurrency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855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880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7947FD-D157-4E37-84DD-9AAD6C16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3930C94-B581-4BE2-A081-757CB67E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Scheduling – </a:t>
            </a:r>
            <a:r>
              <a:rPr lang="he-IL" dirty="0"/>
              <a:t>איך מערכת ההפעלה קובעת מי ירוץ </a:t>
            </a:r>
            <a:r>
              <a:rPr lang="he-IL" dirty="0" err="1"/>
              <a:t>מתיהגדרה</a:t>
            </a:r>
            <a:r>
              <a:rPr lang="he-IL" dirty="0"/>
              <a:t>:</a:t>
            </a:r>
            <a:r>
              <a:rPr lang="en-US" dirty="0"/>
              <a:t>Scheduler </a:t>
            </a:r>
            <a:r>
              <a:rPr lang="he-IL" dirty="0"/>
              <a:t>הוא רכיב במערכת ההפעלה שמחליט איזה תהליך או </a:t>
            </a:r>
            <a:r>
              <a:rPr lang="en-US" dirty="0"/>
              <a:t>Thread </a:t>
            </a:r>
            <a:r>
              <a:rPr lang="he-IL" dirty="0"/>
              <a:t>יקבל את המעבד (</a:t>
            </a:r>
            <a:r>
              <a:rPr lang="en-US" dirty="0"/>
              <a:t>CPU) </a:t>
            </a:r>
            <a:r>
              <a:rPr lang="he-IL" dirty="0"/>
              <a:t>בכל רגע </a:t>
            </a:r>
            <a:r>
              <a:rPr lang="he-IL" dirty="0" err="1"/>
              <a:t>נתון.סוגי</a:t>
            </a:r>
            <a:r>
              <a:rPr lang="he-IL" dirty="0"/>
              <a:t> תזמון עיקריים:</a:t>
            </a:r>
            <a:r>
              <a:rPr lang="en-US" dirty="0"/>
              <a:t>Preemptive Scheduling – </a:t>
            </a:r>
            <a:r>
              <a:rPr lang="he-IL" dirty="0"/>
              <a:t>מערכת ההפעלה מחלקת זמן באופן שווה בין </a:t>
            </a:r>
            <a:r>
              <a:rPr lang="he-IL" dirty="0" err="1"/>
              <a:t>משימות.לדוגמה</a:t>
            </a:r>
            <a:r>
              <a:rPr lang="he-IL" dirty="0"/>
              <a:t>: כל </a:t>
            </a:r>
            <a:r>
              <a:rPr lang="en-US" dirty="0"/>
              <a:t>Thread </a:t>
            </a:r>
            <a:r>
              <a:rPr lang="he-IL" dirty="0"/>
              <a:t>מקבל 10</a:t>
            </a:r>
            <a:r>
              <a:rPr lang="en-US" dirty="0" err="1"/>
              <a:t>ms</a:t>
            </a:r>
            <a:r>
              <a:rPr lang="en-US" dirty="0"/>
              <a:t> CPU, </a:t>
            </a:r>
            <a:r>
              <a:rPr lang="he-IL" dirty="0"/>
              <a:t>ואז עוברים לאחר.</a:t>
            </a:r>
            <a:r>
              <a:rPr lang="en-US" dirty="0"/>
              <a:t>Cooperative Scheduling – </a:t>
            </a:r>
            <a:r>
              <a:rPr lang="he-IL" dirty="0"/>
              <a:t>כל </a:t>
            </a:r>
            <a:r>
              <a:rPr lang="en-US" dirty="0"/>
              <a:t>Thread </a:t>
            </a:r>
            <a:r>
              <a:rPr lang="he-IL" dirty="0"/>
              <a:t>צריך “לוותר” מרצונו על זמן הריצה (למשל ב־</a:t>
            </a:r>
            <a:r>
              <a:rPr lang="en-US" dirty="0" err="1"/>
              <a:t>asyncio</a:t>
            </a:r>
            <a:r>
              <a:rPr lang="en-US" dirty="0"/>
              <a:t>).</a:t>
            </a:r>
            <a:r>
              <a:rPr lang="he-IL" dirty="0" err="1"/>
              <a:t>מטרה:שמירה</a:t>
            </a:r>
            <a:r>
              <a:rPr lang="he-IL" dirty="0"/>
              <a:t> על תגובתיות (</a:t>
            </a:r>
            <a:r>
              <a:rPr lang="en-US" dirty="0"/>
              <a:t>Responsiveness) </a:t>
            </a:r>
            <a:r>
              <a:rPr lang="he-IL" dirty="0"/>
              <a:t>ויעילות המעבד.</a:t>
            </a:r>
          </a:p>
        </p:txBody>
      </p:sp>
    </p:spTree>
    <p:extLst>
      <p:ext uri="{BB962C8B-B14F-4D97-AF65-F5344CB8AC3E}">
        <p14:creationId xmlns:p14="http://schemas.microsoft.com/office/powerpoint/2010/main" val="241818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5556D7-CD65-464C-A3F2-1872FED7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D5772B9-C5E9-42FD-B6A0-EF41395C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018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1F2CF-A74A-442F-8478-46AC016A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מהן פעולות </a:t>
            </a:r>
            <a:r>
              <a:rPr lang="en-US" dirty="0"/>
              <a:t>I/O (Input/Output)?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0CE71D-A37F-4E60-A3FF-BF7A7FA051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הגדרה</a:t>
            </a:r>
            <a:endParaRPr kumimoji="0" lang="he-IL" altLang="he-IL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פעולת I/O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היא פעולה שבה התוכנית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מחליפה מידע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עם מקור חיצוני — מחוץ למעבד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(CPU).</a:t>
            </a:r>
            <a:b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בזמן פעולה כזו, התוכנית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אינה משתמשת כמעט בכלל במעבד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אלא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ממתינה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למשאב אחר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I/O =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כל פעולה שהתוכנית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מחכה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למשאב חיצוני לבצע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91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54B2C9-176E-4079-B7C9-93B0166A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8FEE91-099F-402C-9997-62189745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he-IL" b="1" dirty="0"/>
              <a:t>דוגמאות רשמיות לסוגי </a:t>
            </a:r>
            <a:r>
              <a:rPr lang="en-US" b="1" dirty="0"/>
              <a:t>I/O </a:t>
            </a:r>
            <a:r>
              <a:rPr lang="he-IL" b="1" dirty="0"/>
              <a:t>נפוצים</a:t>
            </a:r>
          </a:p>
          <a:p>
            <a:r>
              <a:rPr lang="he-IL" b="1" dirty="0"/>
              <a:t>1️⃣ רשת (</a:t>
            </a:r>
            <a:r>
              <a:rPr lang="en-US" b="1" dirty="0"/>
              <a:t>Network I/O)</a:t>
            </a:r>
          </a:p>
          <a:p>
            <a:r>
              <a:rPr lang="he-IL" dirty="0"/>
              <a:t>שליחת בקשה לשרת חיצוני (</a:t>
            </a:r>
            <a:r>
              <a:rPr lang="en-US" dirty="0"/>
              <a:t>API)</a:t>
            </a:r>
          </a:p>
          <a:p>
            <a:r>
              <a:rPr lang="he-IL" dirty="0"/>
              <a:t>הורדת קבצים</a:t>
            </a:r>
          </a:p>
          <a:p>
            <a:r>
              <a:rPr lang="he-IL" dirty="0"/>
              <a:t>שליחת מייל</a:t>
            </a:r>
          </a:p>
          <a:p>
            <a:r>
              <a:rPr lang="en-US" dirty="0" err="1"/>
              <a:t>WebSockets</a:t>
            </a:r>
            <a:endParaRPr lang="en-US" dirty="0"/>
          </a:p>
          <a:p>
            <a:r>
              <a:rPr lang="he-IL" dirty="0"/>
              <a:t>💡 זמן המתנה לרשת הוא איטי יחסית (מאות </a:t>
            </a:r>
            <a:r>
              <a:rPr lang="he-IL" dirty="0" err="1"/>
              <a:t>מיקרו־שניות</a:t>
            </a:r>
            <a:r>
              <a:rPr lang="he-IL" dirty="0"/>
              <a:t> עד שניות).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he-IL" b="1" dirty="0"/>
              <a:t>קבצים (</a:t>
            </a:r>
            <a:r>
              <a:rPr lang="en-US" b="1" dirty="0"/>
              <a:t>File I/O)</a:t>
            </a:r>
          </a:p>
          <a:p>
            <a:r>
              <a:rPr lang="he-IL" dirty="0"/>
              <a:t>קריאה מקובץ גדול</a:t>
            </a:r>
          </a:p>
          <a:p>
            <a:r>
              <a:rPr lang="he-IL" dirty="0"/>
              <a:t>כתיבה לקובץ</a:t>
            </a:r>
          </a:p>
          <a:p>
            <a:r>
              <a:rPr lang="he-IL" dirty="0"/>
              <a:t>פתיחה וסריקה של תיקיות</a:t>
            </a:r>
          </a:p>
          <a:p>
            <a:r>
              <a:rPr lang="he-IL" dirty="0"/>
              <a:t>💡 הדיסק איטי בהרבה מה־</a:t>
            </a:r>
            <a:r>
              <a:rPr lang="en-US" dirty="0"/>
              <a:t>CPU, </a:t>
            </a:r>
            <a:r>
              <a:rPr lang="he-IL" dirty="0"/>
              <a:t>במיוחד דיסקים מכניים (</a:t>
            </a:r>
            <a:r>
              <a:rPr lang="en-US" dirty="0"/>
              <a:t>HDD)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9292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77BC4A-7E18-4F4D-A94C-714196FF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3329620-D207-4B55-BC37-1AC8726C5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6550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12A3BD-0EAE-4C47-B70A-377FBDB6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למה בכלל צריך </a:t>
            </a:r>
            <a:r>
              <a:rPr lang="en-US" dirty="0"/>
              <a:t>Concurrency </a:t>
            </a:r>
            <a:r>
              <a:rPr lang="he-IL" dirty="0"/>
              <a:t>ו–</a:t>
            </a:r>
            <a:r>
              <a:rPr lang="en-US" dirty="0"/>
              <a:t>Parallelism?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0EFBD11-0DF2-44A9-A911-19DEF83F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b="1" dirty="0"/>
              <a:t>הגדרה כללית:</a:t>
            </a:r>
            <a:br>
              <a:rPr lang="he-IL" dirty="0"/>
            </a:br>
            <a:r>
              <a:rPr lang="he-IL" dirty="0"/>
              <a:t>בעולם המודרני מערכות אינן מבצעות פעולה אחת בלבד — הן מטפלות </a:t>
            </a:r>
            <a:r>
              <a:rPr lang="he-IL" i="1" dirty="0"/>
              <a:t>בעשרות, מאות ולעיתים אלפי משימות בו־זמנית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/>
              <a:t>כדי לענות לדרישה הזו, נדרשות טכניקות של ריבוי משימות: </a:t>
            </a:r>
            <a:r>
              <a:rPr lang="en-US" b="1" dirty="0"/>
              <a:t>Concurrency</a:t>
            </a:r>
            <a:r>
              <a:rPr lang="en-US" dirty="0"/>
              <a:t> </a:t>
            </a:r>
            <a:r>
              <a:rPr lang="he-IL" dirty="0"/>
              <a:t>ו־</a:t>
            </a:r>
            <a:r>
              <a:rPr lang="en-US" b="1" dirty="0"/>
              <a:t>Parallelism</a:t>
            </a:r>
            <a:r>
              <a:rPr lang="en-US" dirty="0"/>
              <a:t>.</a:t>
            </a:r>
          </a:p>
          <a:p>
            <a:r>
              <a:rPr lang="en-US" dirty="0"/>
              <a:t>Use Cases </a:t>
            </a:r>
            <a:r>
              <a:rPr lang="he-IL" dirty="0"/>
              <a:t>תעשייתיים נפוצים </a:t>
            </a:r>
            <a:r>
              <a:rPr lang="he-IL" b="1" dirty="0"/>
              <a:t>עיבוד נתונים בזמן אמת (</a:t>
            </a:r>
            <a:r>
              <a:rPr lang="en-US" b="1" dirty="0"/>
              <a:t>Streaming)</a:t>
            </a:r>
          </a:p>
          <a:p>
            <a:r>
              <a:rPr lang="he-IL" dirty="0"/>
              <a:t>מערכות כמו:</a:t>
            </a:r>
          </a:p>
          <a:p>
            <a:r>
              <a:rPr lang="he-IL" dirty="0"/>
              <a:t>מערכות ניטור (</a:t>
            </a:r>
            <a:r>
              <a:rPr lang="en-US" dirty="0"/>
              <a:t>Monitoring Systems)</a:t>
            </a:r>
          </a:p>
          <a:p>
            <a:r>
              <a:rPr lang="he-IL" dirty="0"/>
              <a:t>עיבוד לוגים</a:t>
            </a:r>
          </a:p>
          <a:p>
            <a:r>
              <a:rPr lang="he-IL" dirty="0"/>
              <a:t>מערכות טלמטריה (</a:t>
            </a:r>
            <a:r>
              <a:rPr lang="en-US" dirty="0"/>
              <a:t>Sensors)</a:t>
            </a:r>
          </a:p>
          <a:p>
            <a:r>
              <a:rPr lang="he-IL" dirty="0"/>
              <a:t>דורשות:</a:t>
            </a:r>
          </a:p>
          <a:p>
            <a:r>
              <a:rPr lang="he-IL" dirty="0"/>
              <a:t>קליטת אירועים רבים</a:t>
            </a:r>
          </a:p>
          <a:p>
            <a:r>
              <a:rPr lang="he-IL" dirty="0"/>
              <a:t>עיבוד מקבילי</a:t>
            </a:r>
          </a:p>
          <a:p>
            <a:r>
              <a:rPr lang="he-IL" dirty="0"/>
              <a:t>שליחה למספר יעדים במקביל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76178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9006AF-8DA6-4A2B-A7AB-CD36A454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45DE46-ABA7-456B-9775-EB8D91900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b="1" dirty="0"/>
              <a:t>עבודה עם שירותים חיצוניים (</a:t>
            </a:r>
            <a:r>
              <a:rPr lang="en-US" b="1" dirty="0"/>
              <a:t>APIs) </a:t>
            </a:r>
            <a:r>
              <a:rPr lang="he-IL" b="1" dirty="0"/>
              <a:t>במקביל</a:t>
            </a:r>
          </a:p>
          <a:p>
            <a:r>
              <a:rPr lang="he-IL" dirty="0"/>
              <a:t>אפליקציות רבות שואלות:</a:t>
            </a:r>
          </a:p>
          <a:p>
            <a:r>
              <a:rPr lang="he-IL" dirty="0"/>
              <a:t>מזג אוויר</a:t>
            </a:r>
          </a:p>
          <a:p>
            <a:r>
              <a:rPr lang="he-IL" dirty="0"/>
              <a:t>מיקומים</a:t>
            </a:r>
          </a:p>
          <a:p>
            <a:r>
              <a:rPr lang="he-IL" dirty="0"/>
              <a:t>משתמשים</a:t>
            </a:r>
          </a:p>
          <a:p>
            <a:r>
              <a:rPr lang="he-IL" dirty="0"/>
              <a:t>מחירי מניות</a:t>
            </a:r>
          </a:p>
          <a:p>
            <a:r>
              <a:rPr lang="he-IL" dirty="0"/>
              <a:t>עדכונים בזמן אמת</a:t>
            </a:r>
          </a:p>
          <a:p>
            <a:r>
              <a:rPr lang="he-IL" dirty="0"/>
              <a:t>בקשות אלה הן </a:t>
            </a:r>
            <a:r>
              <a:rPr lang="en-US" dirty="0"/>
              <a:t>IO — </a:t>
            </a:r>
            <a:r>
              <a:rPr lang="he-IL" dirty="0"/>
              <a:t>הן </a:t>
            </a:r>
            <a:r>
              <a:rPr lang="he-IL" i="1" dirty="0"/>
              <a:t>ממתינות</a:t>
            </a:r>
            <a:r>
              <a:rPr lang="he-IL" dirty="0"/>
              <a:t> לרשת.</a:t>
            </a:r>
            <a:br>
              <a:rPr lang="he-IL" dirty="0"/>
            </a:br>
            <a:r>
              <a:rPr lang="en-US" dirty="0"/>
              <a:t>Concurrency </a:t>
            </a:r>
            <a:r>
              <a:rPr lang="he-IL" dirty="0"/>
              <a:t>מאפשר לטפל בעשרות בקשות בעת ובעונה אחת.</a:t>
            </a:r>
          </a:p>
          <a:p>
            <a:r>
              <a:rPr lang="he-IL" dirty="0"/>
              <a:t>דוגמה:</a:t>
            </a:r>
            <a:br>
              <a:rPr lang="he-IL" dirty="0"/>
            </a:br>
            <a:r>
              <a:rPr lang="he-IL" dirty="0"/>
              <a:t>אפליקציית טיסות שמושכת נתוני זמינות מחמש חברות תעופה בבת אחת.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0033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6A0EAF-8830-41C1-9356-F9F6273C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F3A8C36-9805-4E9B-BE72-8DF1B5B10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עיבוד תמונות/וידאו, למידת מכונה או חישובים כבדים</a:t>
            </a:r>
          </a:p>
          <a:p>
            <a:r>
              <a:rPr lang="he-IL" dirty="0"/>
              <a:t>אלגוריתמים צורכים הרבה </a:t>
            </a:r>
            <a:r>
              <a:rPr lang="en-US" dirty="0"/>
              <a:t>CPU.</a:t>
            </a:r>
            <a:br>
              <a:rPr lang="en-US" dirty="0"/>
            </a:br>
            <a:r>
              <a:rPr lang="en-US" dirty="0"/>
              <a:t>Parallelism </a:t>
            </a:r>
            <a:r>
              <a:rPr lang="he-IL" dirty="0"/>
              <a:t>מאפשר פיצול העומס בין ליבות המעבד.</a:t>
            </a:r>
          </a:p>
          <a:p>
            <a:r>
              <a:rPr lang="he-IL" dirty="0"/>
              <a:t>דוגמה:</a:t>
            </a:r>
          </a:p>
          <a:p>
            <a:r>
              <a:rPr lang="he-IL" dirty="0"/>
              <a:t>עיבוד של 1000 תמונות לצורך </a:t>
            </a:r>
            <a:r>
              <a:rPr lang="en-US" dirty="0"/>
              <a:t>Thumbnail</a:t>
            </a:r>
          </a:p>
          <a:p>
            <a:r>
              <a:rPr lang="he-IL" dirty="0"/>
              <a:t>אימון מודל </a:t>
            </a:r>
            <a:r>
              <a:rPr lang="en-US" dirty="0"/>
              <a:t>ML </a:t>
            </a:r>
            <a:r>
              <a:rPr lang="he-IL" dirty="0"/>
              <a:t>תוך ניצול כל הליבות</a:t>
            </a:r>
          </a:p>
          <a:p>
            <a:r>
              <a:rPr lang="en-US" dirty="0"/>
              <a:t>Render </a:t>
            </a:r>
            <a:r>
              <a:rPr lang="he-IL" dirty="0"/>
              <a:t>של סרטונים מרובי </a:t>
            </a:r>
            <a:r>
              <a:rPr lang="he-IL" dirty="0" err="1"/>
              <a:t>פריימים</a:t>
            </a:r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A6DB28-7B82-4EA0-91FD-FDEA477EA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בלי ריבוי משימות, מערכות מודרניות לא היו עובדות.</a:t>
            </a:r>
            <a:b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מהרשתות החברתיות ועד שרתי בנקאות — Concurrency ו־Parallelism הם מנוע העבודה שמחזיק את עולם התוכנה חי, יעיל ומהיר.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03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F911AB-BF8F-4E2D-8551-761DFAEC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64D1B56-6379-46E7-97EB-BCA165600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1432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65F594-1FF4-4112-A0A8-7ABE5FC7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זה בעצם "</a:t>
            </a:r>
            <a:r>
              <a:rPr lang="en-US" dirty="0"/>
              <a:t>Concurrency"?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26ED3D-5CD2-4E6E-B573-079A72FAD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ריבוי משימות (Concurrency) הוא היכולת של מערכת לבצע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יותר ממשימה אחת באותו פרק זמן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על ידי חלוקת זמן חכמה בין המשימות.</a:t>
            </a:r>
            <a:b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המשימות אינן מתבצעות בהכרח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בו־זמנית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אלא מתקדמות לסירוגין כך שהמשתמש או המערכת חווים "פעולה מקבילה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עקרון מרכזי: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כל משימה מקבלת חלון זמן קצר לעיבוד, ולאחר מכן מערכת ההפעלה מעבירה את השליטה למשימה אחרת.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תהליך זה נקרא </a:t>
            </a: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תזמון משימות (Task Scheduling)</a:t>
            </a: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דוגמה יומיומית: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אדם אחד שמבשל, מדבר בטלפון ובודק הודעות. הוא אינו מבצע הכול ממש באותו רגע, אלא מחלק את הזמן בין המשימות.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907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348B88-4CCD-4DD1-AA5E-364D644E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</a:t>
            </a:r>
            <a:r>
              <a:rPr lang="he-IL" dirty="0"/>
              <a:t>לעומת </a:t>
            </a:r>
            <a:r>
              <a:rPr lang="en-US" dirty="0"/>
              <a:t>Parallelism</a:t>
            </a:r>
            <a:endParaRPr lang="he-IL" dirty="0"/>
          </a:p>
        </p:txBody>
      </p:sp>
      <p:graphicFrame>
        <p:nvGraphicFramePr>
          <p:cNvPr id="10" name="מציין מיקום תוכן 9">
            <a:extLst>
              <a:ext uri="{FF2B5EF4-FFF2-40B4-BE49-F238E27FC236}">
                <a16:creationId xmlns:a16="http://schemas.microsoft.com/office/drawing/2014/main" id="{4946732A-FFFC-4214-AD4B-EF11A6FF22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867880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67459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1024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מאפיין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Concurrency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Parallelism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44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משמעות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ריבוי משימות מתקדמות במקביל מבחינת זמן (חלקית)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ריבוי משימות מתבצעות ממש בו־זמנית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19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דרך פעולה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המעבד מתזמן משימות בזו אחר זו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מספר ליבות פועלות במקביל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26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שימוש עיקרי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פעולות מבוססות </a:t>
                      </a:r>
                      <a:r>
                        <a:rPr lang="en-US"/>
                        <a:t>IO – </a:t>
                      </a:r>
                      <a:r>
                        <a:rPr lang="he-IL"/>
                        <a:t>קריאה/כתיבה לרשת, דיסק, </a:t>
                      </a:r>
                      <a:r>
                        <a:rPr lang="en-US"/>
                        <a:t>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פעולות מבוססות </a:t>
                      </a:r>
                      <a:r>
                        <a:rPr lang="en-US"/>
                        <a:t>CPU – </a:t>
                      </a:r>
                      <a:r>
                        <a:rPr lang="he-IL"/>
                        <a:t>חישובים, עיבוד תמונה, למידת מכונה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2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דוגמה אנושית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מלצר אחד שמשרת כמה שולחנות לסירוגין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מספר מלצרים שמשרתים במקביל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e-IL"/>
                        <a:t>יישום טיפוסי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מערכות רשת, שרתים, ממשקי משתמש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עיבוד נתונים, מדע חישובי, סימולציות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081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627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8D1D6D-3B63-4D4B-9D7C-1A4B5400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EC338D4-2A91-4EB4-87A2-0693540FE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e-IL" b="1" dirty="0"/>
              <a:t>למה לא תמיד כדאי להשתמש ב־</a:t>
            </a:r>
            <a:r>
              <a:rPr lang="en-US" b="1" dirty="0"/>
              <a:t>Parallelism</a:t>
            </a:r>
          </a:p>
          <a:p>
            <a:r>
              <a:rPr lang="he-IL" b="1" dirty="0"/>
              <a:t>הסבר:</a:t>
            </a:r>
            <a:br>
              <a:rPr lang="he-IL" dirty="0"/>
            </a:br>
            <a:r>
              <a:rPr lang="en-US" dirty="0"/>
              <a:t>Parallelism </a:t>
            </a:r>
            <a:r>
              <a:rPr lang="he-IL" dirty="0"/>
              <a:t>אמנם מאפשר ניצול מלא של המעבד, אך אינו תמיד הבחירה הנכונה.</a:t>
            </a:r>
            <a:br>
              <a:rPr lang="he-IL" dirty="0"/>
            </a:br>
            <a:r>
              <a:rPr lang="he-IL" dirty="0"/>
              <a:t>במקרים שבהם המשימה </a:t>
            </a:r>
            <a:r>
              <a:rPr lang="he-IL" b="1" dirty="0"/>
              <a:t>אינה דורשת עיבוד אינטנסיבי של המעבד</a:t>
            </a:r>
            <a:r>
              <a:rPr lang="he-IL" dirty="0"/>
              <a:t>, אלא </a:t>
            </a:r>
            <a:r>
              <a:rPr lang="he-IL" i="1" dirty="0"/>
              <a:t>ממתינה</a:t>
            </a:r>
            <a:r>
              <a:rPr lang="he-IL" dirty="0"/>
              <a:t> (כמו בקשת רשת או קריאת קובץ),</a:t>
            </a:r>
            <a:br>
              <a:rPr lang="he-IL" dirty="0"/>
            </a:br>
            <a:r>
              <a:rPr lang="he-IL" dirty="0"/>
              <a:t>יצירת מספר תהליכים במקביל תגרום לבזבוז משאבים, מורכבות ניהולית, ואף איטיות.</a:t>
            </a:r>
          </a:p>
          <a:p>
            <a:r>
              <a:rPr lang="he-IL" b="1" dirty="0"/>
              <a:t>השוואה רעיונית:</a:t>
            </a:r>
            <a:endParaRPr lang="he-IL" dirty="0"/>
          </a:p>
          <a:p>
            <a:r>
              <a:rPr lang="he-IL" dirty="0"/>
              <a:t>ריבוי משימות (</a:t>
            </a:r>
            <a:r>
              <a:rPr lang="en-US" dirty="0"/>
              <a:t>Concurrency) ≈ </a:t>
            </a:r>
            <a:r>
              <a:rPr lang="he-IL" dirty="0"/>
              <a:t>ניהול זמן חכם.</a:t>
            </a:r>
          </a:p>
          <a:p>
            <a:r>
              <a:rPr lang="he-IL" dirty="0"/>
              <a:t>ריבוי תהליכים (</a:t>
            </a:r>
            <a:r>
              <a:rPr lang="en-US" dirty="0"/>
              <a:t>Parallelism) ≈ </a:t>
            </a:r>
            <a:r>
              <a:rPr lang="he-IL" dirty="0"/>
              <a:t>כוח עבודה נוסף.</a:t>
            </a:r>
          </a:p>
          <a:p>
            <a:r>
              <a:rPr lang="he-IL" b="1" dirty="0"/>
              <a:t>דוגמה:</a:t>
            </a:r>
            <a:br>
              <a:rPr lang="he-IL" dirty="0"/>
            </a:br>
            <a:r>
              <a:rPr lang="he-IL" dirty="0"/>
              <a:t>אם שרת אינטרנט מטפל במאות בקשות רשת — כל בקשה מחכה לנתונים מהלקוח או מה־</a:t>
            </a:r>
            <a:r>
              <a:rPr lang="en-US" dirty="0"/>
              <a:t>DB.</a:t>
            </a:r>
            <a:br>
              <a:rPr lang="en-US" dirty="0"/>
            </a:br>
            <a:r>
              <a:rPr lang="he-IL" dirty="0"/>
              <a:t>במקרה כזה, שימוש ב־</a:t>
            </a:r>
            <a:r>
              <a:rPr lang="en-US" dirty="0"/>
              <a:t>Concurrency </a:t>
            </a:r>
            <a:r>
              <a:rPr lang="he-IL" dirty="0"/>
              <a:t>עדיף: המשימות מתחלפות במהירות במקום "לבזבז" מעבד על המתנה.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07091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959DE2-A16D-4D50-9990-A46A510F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זה פוגש את </a:t>
            </a:r>
            <a:r>
              <a:rPr lang="en-US" dirty="0"/>
              <a:t>Python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CAF4F40-4387-4421-904C-3763D326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b="1" dirty="0" err="1"/>
              <a:t>פייתון</a:t>
            </a:r>
            <a:r>
              <a:rPr lang="he-IL" dirty="0"/>
              <a:t> מאפשרת גם </a:t>
            </a:r>
            <a:r>
              <a:rPr lang="en-US" dirty="0"/>
              <a:t>Concurrency </a:t>
            </a:r>
            <a:r>
              <a:rPr lang="he-IL" dirty="0"/>
              <a:t>וגם </a:t>
            </a:r>
            <a:r>
              <a:rPr lang="en-US" dirty="0"/>
              <a:t>Parallelism, </a:t>
            </a:r>
            <a:r>
              <a:rPr lang="he-IL" dirty="0"/>
              <a:t>אך עם מגבלה חשובה:</a:t>
            </a:r>
          </a:p>
          <a:p>
            <a:r>
              <a:rPr lang="he-IL" b="1" dirty="0"/>
              <a:t>🔒 </a:t>
            </a:r>
            <a:r>
              <a:rPr lang="en-US" b="1" dirty="0"/>
              <a:t>GIL – Global Interpreter Lock</a:t>
            </a:r>
          </a:p>
          <a:p>
            <a:r>
              <a:rPr lang="he-IL" dirty="0"/>
              <a:t>מנגנון שמאפשר רק לשרשור אחד להריץ קוד </a:t>
            </a:r>
            <a:r>
              <a:rPr lang="he-IL" dirty="0" err="1"/>
              <a:t>פייתון</a:t>
            </a:r>
            <a:r>
              <a:rPr lang="he-IL" dirty="0"/>
              <a:t> בזמן נתון.</a:t>
            </a:r>
          </a:p>
          <a:p>
            <a:r>
              <a:rPr lang="he-IL" dirty="0"/>
              <a:t>נועד לשמור על בטיחות בזיכרון, אך מגביל את היכולת להריץ קוד </a:t>
            </a:r>
            <a:r>
              <a:rPr lang="en-US" dirty="0"/>
              <a:t>CPU-</a:t>
            </a:r>
            <a:r>
              <a:rPr lang="he-IL" dirty="0"/>
              <a:t>כבד במספר שרשורים.</a:t>
            </a:r>
          </a:p>
          <a:p>
            <a:r>
              <a:rPr lang="he-IL" b="1" dirty="0"/>
              <a:t>מה זה אומר בפועל</a:t>
            </a:r>
          </a:p>
          <a:p>
            <a:r>
              <a:rPr lang="he-IL" dirty="0"/>
              <a:t>גם אם ניצור כמה </a:t>
            </a:r>
            <a:r>
              <a:rPr lang="en-US" dirty="0"/>
              <a:t>Threads </a:t>
            </a:r>
            <a:r>
              <a:rPr lang="he-IL" dirty="0" err="1"/>
              <a:t>בפייתון</a:t>
            </a:r>
            <a:r>
              <a:rPr lang="he-IL" dirty="0"/>
              <a:t> – רק אחד מהם יכול להריץ קוד </a:t>
            </a:r>
            <a:r>
              <a:rPr lang="he-IL" dirty="0" err="1"/>
              <a:t>פייתון</a:t>
            </a:r>
            <a:r>
              <a:rPr lang="he-IL" dirty="0"/>
              <a:t> בכל רגע.</a:t>
            </a:r>
          </a:p>
          <a:p>
            <a:r>
              <a:rPr lang="he-IL" dirty="0"/>
              <a:t>השרשורים האחרים </a:t>
            </a:r>
            <a:r>
              <a:rPr lang="he-IL" b="1" dirty="0"/>
              <a:t>ממתינים</a:t>
            </a:r>
            <a:r>
              <a:rPr lang="he-IL" dirty="0"/>
              <a:t> עד שה־</a:t>
            </a:r>
            <a:r>
              <a:rPr lang="en-US" dirty="0"/>
              <a:t>GIL </a:t>
            </a:r>
            <a:r>
              <a:rPr lang="he-IL" dirty="0"/>
              <a:t>ישוחרר.</a:t>
            </a:r>
          </a:p>
          <a:p>
            <a:r>
              <a:rPr lang="he-IL" dirty="0"/>
              <a:t>כלומר: אין </a:t>
            </a:r>
            <a:r>
              <a:rPr lang="en-US" b="1" dirty="0"/>
              <a:t>Parallelism </a:t>
            </a:r>
            <a:r>
              <a:rPr lang="he-IL" b="1" dirty="0" err="1"/>
              <a:t>אמיתי</a:t>
            </a:r>
            <a:r>
              <a:rPr lang="he-IL" dirty="0"/>
              <a:t> בעומסי </a:t>
            </a:r>
            <a:r>
              <a:rPr lang="en-US" b="1" dirty="0"/>
              <a:t>CPU</a:t>
            </a:r>
            <a:r>
              <a:rPr lang="en-US" dirty="0"/>
              <a:t> (</a:t>
            </a:r>
            <a:r>
              <a:rPr lang="he-IL" dirty="0"/>
              <a:t>חישובים כבדים).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91601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EA7219-5B74-4626-9C94-FB86C362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000497-A6DC-42E4-844C-F19DFCC2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b="1" dirty="0"/>
              <a:t>דוגמה פשוטה</a:t>
            </a:r>
          </a:p>
          <a:p>
            <a:r>
              <a:rPr lang="he-IL" dirty="0"/>
              <a:t>נניח שיש לנו שני </a:t>
            </a:r>
            <a:r>
              <a:rPr lang="en-US" dirty="0"/>
              <a:t>Threads </a:t>
            </a:r>
            <a:r>
              <a:rPr lang="he-IL" dirty="0"/>
              <a:t>שכל אחד מריץ לולאה שמחשבת מספרים:</a:t>
            </a:r>
          </a:p>
          <a:p>
            <a:r>
              <a:rPr lang="en-US" dirty="0"/>
              <a:t>import threading</a:t>
            </a:r>
          </a:p>
          <a:p>
            <a:endParaRPr lang="en-US" dirty="0"/>
          </a:p>
          <a:p>
            <a:r>
              <a:rPr lang="en-US" dirty="0"/>
              <a:t>def calc():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range(10_000_000):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*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threads = [</a:t>
            </a:r>
            <a:r>
              <a:rPr lang="en-US" dirty="0" err="1"/>
              <a:t>threading.Thread</a:t>
            </a:r>
            <a:r>
              <a:rPr lang="en-US" dirty="0"/>
              <a:t>(target=calc) for _ in range(2)]</a:t>
            </a:r>
          </a:p>
          <a:p>
            <a:endParaRPr lang="en-US" dirty="0"/>
          </a:p>
          <a:p>
            <a:r>
              <a:rPr lang="en-US" dirty="0"/>
              <a:t>for t in threads: </a:t>
            </a:r>
            <a:r>
              <a:rPr lang="en-US" dirty="0" err="1"/>
              <a:t>t.start</a:t>
            </a:r>
            <a:r>
              <a:rPr lang="en-US" dirty="0"/>
              <a:t>()</a:t>
            </a:r>
          </a:p>
          <a:p>
            <a:r>
              <a:rPr lang="en-US" dirty="0"/>
              <a:t>for t in threads: </a:t>
            </a:r>
            <a:r>
              <a:rPr lang="en-US" dirty="0" err="1"/>
              <a:t>t.join</a:t>
            </a:r>
            <a:r>
              <a:rPr lang="en-US" dirty="0"/>
              <a:t>()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51701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B3D09A-108D-43BD-9F7C-F236332E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79BF86D-74D9-4923-855B-6640D4240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❗ גם אם יש לך מעבד עם 8 ליבות — הקוד הזה </a:t>
            </a:r>
            <a:r>
              <a:rPr lang="he-IL" b="1" dirty="0"/>
              <a:t>לא ירוץ פי 2 מהר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/>
              <a:t>בפועל הוא ירוץ כמעט באותו זמן כמו </a:t>
            </a:r>
            <a:r>
              <a:rPr lang="en-US" dirty="0"/>
              <a:t>Thread </a:t>
            </a:r>
            <a:r>
              <a:rPr lang="he-IL" dirty="0"/>
              <a:t>יחיד, בגלל ה־</a:t>
            </a:r>
            <a:r>
              <a:rPr lang="en-US" dirty="0"/>
              <a:t>GIL.</a:t>
            </a:r>
            <a:endParaRPr lang="he-IL" dirty="0"/>
          </a:p>
          <a:p>
            <a:r>
              <a:rPr lang="he-IL" b="1" dirty="0"/>
              <a:t>לעומת זאת – </a:t>
            </a:r>
            <a:r>
              <a:rPr lang="en-US" b="1" dirty="0"/>
              <a:t>IO </a:t>
            </a:r>
            <a:r>
              <a:rPr lang="he-IL" b="1" dirty="0"/>
              <a:t>כן עובד במקביל</a:t>
            </a:r>
          </a:p>
          <a:p>
            <a:r>
              <a:rPr lang="he-IL" dirty="0"/>
              <a:t>כשה־</a:t>
            </a:r>
            <a:r>
              <a:rPr lang="en-US" dirty="0"/>
              <a:t>Thread </a:t>
            </a:r>
            <a:r>
              <a:rPr lang="he-IL" b="1" dirty="0"/>
              <a:t>ממתין</a:t>
            </a:r>
            <a:r>
              <a:rPr lang="he-IL" dirty="0"/>
              <a:t> (למשל לקריאת קובץ או תגובת רשת),</a:t>
            </a:r>
            <a:br>
              <a:rPr lang="he-IL" dirty="0"/>
            </a:br>
            <a:r>
              <a:rPr lang="he-IL" dirty="0"/>
              <a:t>ה־</a:t>
            </a:r>
            <a:r>
              <a:rPr lang="en-US" dirty="0"/>
              <a:t>GIL </a:t>
            </a:r>
            <a:r>
              <a:rPr lang="he-IL" dirty="0"/>
              <a:t>משתחרר ו־</a:t>
            </a:r>
            <a:r>
              <a:rPr lang="en-US" dirty="0"/>
              <a:t>Thread </a:t>
            </a:r>
            <a:r>
              <a:rPr lang="he-IL" dirty="0"/>
              <a:t>אחר יכול לרוץ.</a:t>
            </a:r>
          </a:p>
          <a:p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516204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F5F534-CF93-4AE0-9B36-A11ECB0E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למה בכלל קיים ה־</a:t>
            </a:r>
            <a:r>
              <a:rPr lang="en-US" dirty="0"/>
              <a:t>GIL?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47B0075-0223-47CB-AACF-E52CA4569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1️⃣ בטיחות זיכרון (</a:t>
            </a:r>
            <a:r>
              <a:rPr lang="en-US" b="1" dirty="0"/>
              <a:t>Memory Safety)</a:t>
            </a:r>
          </a:p>
          <a:p>
            <a:r>
              <a:rPr lang="he-IL" dirty="0" err="1"/>
              <a:t>פייתון</a:t>
            </a:r>
            <a:r>
              <a:rPr lang="he-IL" dirty="0"/>
              <a:t> משתמשת </a:t>
            </a:r>
            <a:r>
              <a:rPr lang="he-IL" b="1" dirty="0"/>
              <a:t>בספירת הפניות (</a:t>
            </a:r>
            <a:r>
              <a:rPr lang="en-US" b="1" dirty="0"/>
              <a:t>Reference Counting)</a:t>
            </a:r>
            <a:r>
              <a:rPr lang="en-US" dirty="0"/>
              <a:t> </a:t>
            </a:r>
            <a:r>
              <a:rPr lang="he-IL" dirty="0"/>
              <a:t>כדי לנהל זיכרון.</a:t>
            </a:r>
            <a:br>
              <a:rPr lang="he-IL" dirty="0"/>
            </a:br>
            <a:r>
              <a:rPr lang="he-IL" dirty="0"/>
              <a:t>כל אובייקט </a:t>
            </a:r>
            <a:r>
              <a:rPr lang="he-IL" dirty="0" err="1"/>
              <a:t>בפייתון</a:t>
            </a:r>
            <a:r>
              <a:rPr lang="he-IL" dirty="0"/>
              <a:t> מחזיק מונה כמה משתנים “מצביעים” עליו.</a:t>
            </a:r>
          </a:p>
          <a:p>
            <a:r>
              <a:rPr lang="he-IL" dirty="0"/>
              <a:t>אם שני </a:t>
            </a:r>
            <a:r>
              <a:rPr lang="en-US" dirty="0"/>
              <a:t>Threads </a:t>
            </a:r>
            <a:r>
              <a:rPr lang="he-IL" dirty="0"/>
              <a:t>היו משנים את המונה </a:t>
            </a:r>
            <a:r>
              <a:rPr lang="he-IL" i="1" dirty="0"/>
              <a:t>בו־זמנית</a:t>
            </a:r>
            <a:r>
              <a:rPr lang="he-IL" dirty="0"/>
              <a:t>, זה היה גורם:</a:t>
            </a:r>
          </a:p>
          <a:p>
            <a:r>
              <a:rPr lang="he-IL" dirty="0"/>
              <a:t>קריסה</a:t>
            </a:r>
          </a:p>
          <a:p>
            <a:r>
              <a:rPr lang="he-IL" dirty="0" err="1"/>
              <a:t>זליגות</a:t>
            </a:r>
            <a:r>
              <a:rPr lang="he-IL" dirty="0"/>
              <a:t> זיכרון</a:t>
            </a:r>
          </a:p>
          <a:p>
            <a:r>
              <a:rPr lang="he-IL" dirty="0"/>
              <a:t>מצב של “נתונים שבורים”</a:t>
            </a:r>
          </a:p>
          <a:p>
            <a:r>
              <a:rPr lang="he-IL" dirty="0"/>
              <a:t>ה־</a:t>
            </a:r>
            <a:r>
              <a:rPr lang="en-US" dirty="0"/>
              <a:t>GIL </a:t>
            </a:r>
            <a:r>
              <a:rPr lang="he-IL" dirty="0"/>
              <a:t>נועד למנוע זאת.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56967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76C826-85F3-4071-A98F-C7FD69D7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C10FDFD-6E65-4ABC-9F0E-0B2908410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יצועים טובים עבור קוד סינגל-</a:t>
            </a:r>
            <a:r>
              <a:rPr lang="en-US" b="1" dirty="0"/>
              <a:t>Thread</a:t>
            </a:r>
          </a:p>
          <a:p>
            <a:r>
              <a:rPr lang="he-IL" dirty="0"/>
              <a:t>בגלל שה־</a:t>
            </a:r>
            <a:r>
              <a:rPr lang="en-US" dirty="0"/>
              <a:t>GIL </a:t>
            </a:r>
            <a:r>
              <a:rPr lang="he-IL" dirty="0"/>
              <a:t>חוסך מנגנוני סנכרון יקרים, בצד של:</a:t>
            </a:r>
          </a:p>
          <a:p>
            <a:r>
              <a:rPr lang="he-IL" dirty="0"/>
              <a:t>תוכנות שולחניות</a:t>
            </a:r>
          </a:p>
          <a:p>
            <a:r>
              <a:rPr lang="he-IL" dirty="0"/>
              <a:t>רוב הסקריפטים</a:t>
            </a:r>
          </a:p>
          <a:p>
            <a:r>
              <a:rPr lang="he-IL" dirty="0"/>
              <a:t>שימוש קלאסי </a:t>
            </a:r>
            <a:r>
              <a:rPr lang="he-IL" dirty="0" err="1"/>
              <a:t>בפייתון</a:t>
            </a:r>
            <a:endParaRPr lang="he-IL" dirty="0"/>
          </a:p>
          <a:p>
            <a:r>
              <a:rPr lang="he-IL" dirty="0"/>
              <a:t>הוא מאפשר ביצועים סבירים ומהירים.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5925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FD5969-9E24-403F-9462-37E2616C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8B01D2-3E80-405D-9CA8-6B6814A8A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מה המשמעות עבור </a:t>
            </a:r>
            <a:r>
              <a:rPr lang="en-US" b="1" dirty="0"/>
              <a:t>Multithreading?</a:t>
            </a:r>
          </a:p>
          <a:p>
            <a:r>
              <a:rPr lang="he-IL" b="1" dirty="0"/>
              <a:t>❌ קוד </a:t>
            </a:r>
            <a:r>
              <a:rPr lang="en-US" b="1" dirty="0"/>
              <a:t>CPU </a:t>
            </a:r>
            <a:r>
              <a:rPr lang="he-IL" b="1" dirty="0"/>
              <a:t>כבד – לא רץ במקביל</a:t>
            </a:r>
          </a:p>
          <a:p>
            <a:r>
              <a:rPr lang="he-IL" dirty="0"/>
              <a:t>לולאות כבדות, עיבוד תמונות, חישובים מתמטיים →</a:t>
            </a:r>
            <a:br>
              <a:rPr lang="he-IL" dirty="0"/>
            </a:br>
            <a:r>
              <a:rPr lang="he-IL" dirty="0"/>
              <a:t>לא ירוויחו מ־</a:t>
            </a:r>
            <a:r>
              <a:rPr lang="en-US" dirty="0"/>
              <a:t>Threading </a:t>
            </a:r>
            <a:r>
              <a:rPr lang="he-IL" dirty="0" err="1"/>
              <a:t>בפייתון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/>
              <a:t>ה־</a:t>
            </a:r>
            <a:r>
              <a:rPr lang="en-US" dirty="0"/>
              <a:t>GIL “</a:t>
            </a:r>
            <a:r>
              <a:rPr lang="he-IL" dirty="0"/>
              <a:t>נועל” אותם.</a:t>
            </a:r>
          </a:p>
          <a:p>
            <a:r>
              <a:rPr lang="he-IL" b="1" dirty="0"/>
              <a:t>✔ קוד </a:t>
            </a:r>
            <a:r>
              <a:rPr lang="en-US" b="1" dirty="0"/>
              <a:t>IO – </a:t>
            </a:r>
            <a:r>
              <a:rPr lang="he-IL" b="1" dirty="0"/>
              <a:t>מרוויח משמעותית</a:t>
            </a:r>
          </a:p>
          <a:p>
            <a:r>
              <a:rPr lang="he-IL" dirty="0"/>
              <a:t>בקשות רשת, גישה לקבצים, קריאות </a:t>
            </a:r>
            <a:r>
              <a:rPr lang="en-US" dirty="0"/>
              <a:t>DB →</a:t>
            </a:r>
            <a:br>
              <a:rPr lang="en-US" dirty="0"/>
            </a:br>
            <a:r>
              <a:rPr lang="he-IL" dirty="0"/>
              <a:t>ה־</a:t>
            </a:r>
            <a:r>
              <a:rPr lang="en-US" dirty="0"/>
              <a:t>Thread </a:t>
            </a:r>
            <a:r>
              <a:rPr lang="he-IL" dirty="0"/>
              <a:t>משחרר את ה־</a:t>
            </a:r>
            <a:r>
              <a:rPr lang="en-US" dirty="0"/>
              <a:t>GIL </a:t>
            </a:r>
            <a:r>
              <a:rPr lang="he-IL" dirty="0"/>
              <a:t>בזמן המתנה, ו־</a:t>
            </a:r>
            <a:r>
              <a:rPr lang="en-US" dirty="0"/>
              <a:t>Thread </a:t>
            </a:r>
            <a:r>
              <a:rPr lang="he-IL" dirty="0"/>
              <a:t>אחר יכול להתקדם.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82622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4A6895-149B-4861-BDC3-29E2F76E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054C71C-99C8-4544-B996-4B594F87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מתי כן יש מקביליות </a:t>
            </a:r>
            <a:r>
              <a:rPr lang="he-IL" dirty="0" err="1"/>
              <a:t>אמיתית</a:t>
            </a:r>
            <a:r>
              <a:rPr lang="he-IL" dirty="0"/>
              <a:t>?</a:t>
            </a:r>
            <a:r>
              <a:rPr lang="en-US" dirty="0"/>
              <a:t> - </a:t>
            </a:r>
            <a:r>
              <a:rPr lang="he-IL" dirty="0"/>
              <a:t>כאשר משתמשים ב</a:t>
            </a:r>
            <a:r>
              <a:rPr lang="en-US" dirty="0"/>
              <a:t> </a:t>
            </a:r>
            <a:r>
              <a:rPr lang="en-US" dirty="0" err="1"/>
              <a:t>muktiprocessing</a:t>
            </a:r>
            <a:endParaRPr lang="en-US" dirty="0"/>
          </a:p>
          <a:p>
            <a:r>
              <a:rPr lang="he-IL" dirty="0"/>
              <a:t>כל תהליך מקבל </a:t>
            </a:r>
            <a:r>
              <a:rPr lang="he-IL" i="1" dirty="0"/>
              <a:t>מפרש </a:t>
            </a:r>
            <a:r>
              <a:rPr lang="he-IL" i="1" dirty="0" err="1"/>
              <a:t>פייתון</a:t>
            </a:r>
            <a:r>
              <a:rPr lang="he-IL" i="1" dirty="0"/>
              <a:t> עצמאי</a:t>
            </a:r>
            <a:r>
              <a:rPr lang="he-IL" dirty="0"/>
              <a:t> ו־</a:t>
            </a:r>
            <a:r>
              <a:rPr lang="en-US" dirty="0"/>
              <a:t>GIL </a:t>
            </a:r>
            <a:r>
              <a:rPr lang="he-IL" dirty="0"/>
              <a:t>משלו.</a:t>
            </a:r>
          </a:p>
          <a:p>
            <a:endParaRPr lang="he-IL" dirty="0"/>
          </a:p>
          <a:p>
            <a:r>
              <a:rPr lang="he-IL" dirty="0"/>
              <a:t>מסקנה </a:t>
            </a:r>
            <a:r>
              <a:rPr lang="he-IL" dirty="0" err="1"/>
              <a:t>מרכזיתה</a:t>
            </a:r>
            <a:r>
              <a:rPr lang="he-IL" dirty="0"/>
              <a:t>־</a:t>
            </a:r>
            <a:r>
              <a:rPr lang="en-US" dirty="0"/>
              <a:t>GIL </a:t>
            </a:r>
            <a:r>
              <a:rPr lang="he-IL" dirty="0"/>
              <a:t>נועד להגן על הזיכרון ולפשט את המימוש של </a:t>
            </a:r>
            <a:r>
              <a:rPr lang="he-IL" dirty="0" err="1"/>
              <a:t>פייתון</a:t>
            </a:r>
            <a:r>
              <a:rPr lang="he-IL" dirty="0"/>
              <a:t>, אבל יוצר </a:t>
            </a:r>
            <a:r>
              <a:rPr lang="he-IL" dirty="0" err="1"/>
              <a:t>מגבילת</a:t>
            </a:r>
            <a:r>
              <a:rPr lang="he-IL" dirty="0"/>
              <a:t> יסוד:</a:t>
            </a:r>
            <a:r>
              <a:rPr lang="en-US" dirty="0"/>
              <a:t>Threading </a:t>
            </a:r>
            <a:r>
              <a:rPr lang="he-IL" dirty="0" err="1"/>
              <a:t>בפייתון</a:t>
            </a:r>
            <a:r>
              <a:rPr lang="he-IL" dirty="0"/>
              <a:t> לא מתאים לחישובים כבדים (</a:t>
            </a:r>
            <a:r>
              <a:rPr lang="en-US" dirty="0"/>
              <a:t>CPU-bound), </a:t>
            </a:r>
            <a:r>
              <a:rPr lang="he-IL" dirty="0"/>
              <a:t>אלא בעיקר למשימות </a:t>
            </a:r>
            <a:r>
              <a:rPr lang="en-US" dirty="0"/>
              <a:t>IO.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1021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664734-AD37-4FEE-9D9B-86F4AFB3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57F3AB-0791-47FA-BC44-C65681A7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שקופית 5: </a:t>
            </a:r>
            <a:r>
              <a:rPr lang="he-IL" dirty="0" err="1"/>
              <a:t>מסקנהאין</a:t>
            </a:r>
            <a:r>
              <a:rPr lang="he-IL" dirty="0"/>
              <a:t> גישה אחת נכונה.</a:t>
            </a:r>
            <a:r>
              <a:rPr lang="en-US" dirty="0"/>
              <a:t>Concurrency </a:t>
            </a:r>
            <a:r>
              <a:rPr lang="he-IL" dirty="0"/>
              <a:t>מיועדת לניהול יעיל של משימות המחכות ל־</a:t>
            </a:r>
            <a:r>
              <a:rPr lang="en-US" dirty="0" err="1"/>
              <a:t>IO.Parallelism</a:t>
            </a:r>
            <a:r>
              <a:rPr lang="en-US" dirty="0"/>
              <a:t> </a:t>
            </a:r>
            <a:r>
              <a:rPr lang="he-IL" dirty="0"/>
              <a:t>מיועדת לביצוע חישובים כבדים </a:t>
            </a:r>
            <a:r>
              <a:rPr lang="he-IL" dirty="0" err="1"/>
              <a:t>בו־זמנית.בעולם</a:t>
            </a:r>
            <a:r>
              <a:rPr lang="he-IL" dirty="0"/>
              <a:t> של </a:t>
            </a:r>
            <a:r>
              <a:rPr lang="en-US" dirty="0"/>
              <a:t>Python, </a:t>
            </a:r>
            <a:r>
              <a:rPr lang="he-IL" dirty="0"/>
              <a:t>השילוב ביניהן – לפי סוג המשימה – הוא המפתח לביצועים מיטביים ולמערכת יציבה.</a:t>
            </a:r>
          </a:p>
        </p:txBody>
      </p:sp>
    </p:spTree>
    <p:extLst>
      <p:ext uri="{BB962C8B-B14F-4D97-AF65-F5344CB8AC3E}">
        <p14:creationId xmlns:p14="http://schemas.microsoft.com/office/powerpoint/2010/main" val="818814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00BFEB-BF1E-4261-8C4D-3CF5CE6B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9BCAAC-5CB7-4B50-A0BB-2A3B450E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5573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E7FA18-1678-462F-A8BF-16966647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שלוש הדרכים לריבוי משימות </a:t>
            </a:r>
            <a:r>
              <a:rPr lang="he-IL" dirty="0" err="1"/>
              <a:t>בפייתון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FC115D00-2893-4C09-BDF4-41ACEC1EFF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87413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30122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88686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e-IL"/>
                        <a:t>גישה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עקרון פעולה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שימוש עיקרי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89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threading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ריבוי שרשורים באותו תהליך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משימות </a:t>
                      </a:r>
                      <a:r>
                        <a:rPr lang="en-US"/>
                        <a:t>IO (</a:t>
                      </a:r>
                      <a:r>
                        <a:rPr lang="he-IL"/>
                        <a:t>כמו בקשות רשת)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multiprocessing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ריבוי תהליכים עצמאיים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משימות </a:t>
                      </a:r>
                      <a:r>
                        <a:rPr lang="en-US"/>
                        <a:t>CPU (</a:t>
                      </a:r>
                      <a:r>
                        <a:rPr lang="he-IL"/>
                        <a:t>כמו חישובים)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8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asyncio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/>
                        <a:t>תכנות אסינכרוני מבוסס </a:t>
                      </a:r>
                      <a:r>
                        <a:rPr lang="en-US"/>
                        <a:t>event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ריבוי פעולות </a:t>
                      </a:r>
                      <a:r>
                        <a:rPr lang="en-US" dirty="0"/>
                        <a:t>IO </a:t>
                      </a:r>
                      <a:r>
                        <a:rPr lang="he-IL" dirty="0"/>
                        <a:t>בצורה יעילה ופשוטה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899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456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71D0D3-800A-4D7B-8A78-98149640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D01BF35-FD62-47E4-8B97-EA2671C47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threading – </a:t>
            </a:r>
            <a:r>
              <a:rPr lang="he-IL" dirty="0"/>
              <a:t>ריבוי </a:t>
            </a:r>
            <a:r>
              <a:rPr lang="he-IL" dirty="0" err="1"/>
              <a:t>שרשוריםמה</a:t>
            </a:r>
            <a:r>
              <a:rPr lang="he-IL" dirty="0"/>
              <a:t> </a:t>
            </a:r>
            <a:r>
              <a:rPr lang="he-IL" dirty="0" err="1"/>
              <a:t>זה:יצירת</a:t>
            </a:r>
            <a:r>
              <a:rPr lang="he-IL" dirty="0"/>
              <a:t> כמה </a:t>
            </a:r>
            <a:r>
              <a:rPr lang="en-US" dirty="0"/>
              <a:t>Threads </a:t>
            </a:r>
            <a:r>
              <a:rPr lang="he-IL" dirty="0"/>
              <a:t>בתוך אותו </a:t>
            </a:r>
            <a:r>
              <a:rPr lang="he-IL" dirty="0" err="1"/>
              <a:t>תהליך.כל</a:t>
            </a:r>
            <a:r>
              <a:rPr lang="he-IL" dirty="0"/>
              <a:t> </a:t>
            </a:r>
            <a:r>
              <a:rPr lang="en-US" dirty="0"/>
              <a:t>Thread </a:t>
            </a:r>
            <a:r>
              <a:rPr lang="he-IL" dirty="0"/>
              <a:t>רץ במקביל, אך ה־</a:t>
            </a:r>
            <a:r>
              <a:rPr lang="en-US" dirty="0"/>
              <a:t>GIL </a:t>
            </a:r>
            <a:r>
              <a:rPr lang="he-IL" dirty="0"/>
              <a:t>מאפשר רק אחד בכל רגע </a:t>
            </a:r>
            <a:r>
              <a:rPr lang="he-IL" dirty="0" err="1"/>
              <a:t>נתון.מתאים</a:t>
            </a:r>
            <a:r>
              <a:rPr lang="he-IL" dirty="0"/>
              <a:t> ל:משימות </a:t>
            </a:r>
            <a:r>
              <a:rPr lang="en-US" dirty="0"/>
              <a:t>IO – </a:t>
            </a:r>
            <a:r>
              <a:rPr lang="he-IL" dirty="0"/>
              <a:t>לדוגמה הורדות מקבילות מהאינטרנט</a:t>
            </a:r>
          </a:p>
          <a:p>
            <a:r>
              <a:rPr lang="en-US" dirty="0"/>
              <a:t>import threading, requests</a:t>
            </a:r>
          </a:p>
          <a:p>
            <a:endParaRPr lang="en-US" dirty="0"/>
          </a:p>
          <a:p>
            <a:r>
              <a:rPr lang="en-US" dirty="0"/>
              <a:t>def fetch(</a:t>
            </a:r>
            <a:r>
              <a:rPr lang="en-US" dirty="0" err="1"/>
              <a:t>url</a:t>
            </a:r>
            <a:r>
              <a:rPr lang="en-US" dirty="0"/>
              <a:t>):</a:t>
            </a:r>
          </a:p>
          <a:p>
            <a:r>
              <a:rPr lang="en-US" dirty="0"/>
              <a:t>    print(f"</a:t>
            </a:r>
            <a:r>
              <a:rPr lang="he-IL" dirty="0"/>
              <a:t>מוריד {</a:t>
            </a:r>
            <a:r>
              <a:rPr lang="en-US" dirty="0" err="1"/>
              <a:t>url</a:t>
            </a:r>
            <a:r>
              <a:rPr lang="en-US" dirty="0"/>
              <a:t>}")</a:t>
            </a:r>
          </a:p>
          <a:p>
            <a:r>
              <a:rPr lang="en-US" dirty="0"/>
              <a:t>   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urls</a:t>
            </a:r>
            <a:r>
              <a:rPr lang="en-US" dirty="0"/>
              <a:t> = ["https://example.com"] * 5</a:t>
            </a:r>
          </a:p>
          <a:p>
            <a:r>
              <a:rPr lang="en-US" dirty="0"/>
              <a:t>threads = [</a:t>
            </a:r>
            <a:r>
              <a:rPr lang="en-US" dirty="0" err="1"/>
              <a:t>threading.Thread</a:t>
            </a:r>
            <a:r>
              <a:rPr lang="en-US" dirty="0"/>
              <a:t>(target=fetch, </a:t>
            </a:r>
            <a:r>
              <a:rPr lang="en-US" dirty="0" err="1"/>
              <a:t>args</a:t>
            </a:r>
            <a:r>
              <a:rPr lang="en-US" dirty="0"/>
              <a:t>=(u,)) for u in </a:t>
            </a:r>
            <a:r>
              <a:rPr lang="en-US" dirty="0" err="1"/>
              <a:t>urls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for t in threads: </a:t>
            </a:r>
            <a:r>
              <a:rPr lang="en-US" dirty="0" err="1"/>
              <a:t>t.start</a:t>
            </a:r>
            <a:r>
              <a:rPr lang="en-US" dirty="0"/>
              <a:t>()</a:t>
            </a:r>
          </a:p>
          <a:p>
            <a:r>
              <a:rPr lang="en-US" dirty="0"/>
              <a:t>for t in threads: </a:t>
            </a:r>
            <a:r>
              <a:rPr lang="en-US" dirty="0" err="1"/>
              <a:t>t.join</a:t>
            </a:r>
            <a:r>
              <a:rPr lang="en-US" dirty="0"/>
              <a:t>()</a:t>
            </a:r>
          </a:p>
          <a:p>
            <a:endParaRPr lang="he-IL" dirty="0"/>
          </a:p>
          <a:p>
            <a:r>
              <a:rPr lang="he-IL" dirty="0"/>
              <a:t>📈 היתרון – משפר ביצועים בהורדות/קריאות רשת.</a:t>
            </a:r>
            <a:br>
              <a:rPr lang="he-IL" dirty="0"/>
            </a:br>
            <a:r>
              <a:rPr lang="he-IL" dirty="0"/>
              <a:t>⚠️ החיסרון – לא מתאים לעומסי חישוב כבדים (</a:t>
            </a:r>
            <a:r>
              <a:rPr lang="en-US" dirty="0"/>
              <a:t>CPU).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561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EF16B3-D1F2-4DDA-B6BA-39E9E354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C3E37E-5C33-485F-8C00-C61702ED8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multiprocessing – </a:t>
            </a:r>
            <a:r>
              <a:rPr lang="he-IL" dirty="0"/>
              <a:t>ריבוי תהליכים </a:t>
            </a:r>
            <a:r>
              <a:rPr lang="he-IL" dirty="0" err="1"/>
              <a:t>אמיתייםמה</a:t>
            </a:r>
            <a:r>
              <a:rPr lang="he-IL" dirty="0"/>
              <a:t> </a:t>
            </a:r>
            <a:r>
              <a:rPr lang="he-IL" dirty="0" err="1"/>
              <a:t>זה:כל</a:t>
            </a:r>
            <a:r>
              <a:rPr lang="he-IL" dirty="0"/>
              <a:t> תהליך רץ עם </a:t>
            </a:r>
            <a:r>
              <a:rPr lang="en-US" dirty="0"/>
              <a:t>GIL </a:t>
            </a:r>
            <a:r>
              <a:rPr lang="he-IL" dirty="0"/>
              <a:t>משלו → מאפשר </a:t>
            </a:r>
            <a:r>
              <a:rPr lang="en-US" dirty="0"/>
              <a:t>Parallelism </a:t>
            </a:r>
            <a:r>
              <a:rPr lang="he-IL" dirty="0" err="1"/>
              <a:t>אמיתי.מתאים</a:t>
            </a:r>
            <a:r>
              <a:rPr lang="he-IL" dirty="0"/>
              <a:t> ל:משימות </a:t>
            </a:r>
            <a:r>
              <a:rPr lang="en-US" dirty="0"/>
              <a:t>CPU </a:t>
            </a:r>
            <a:r>
              <a:rPr lang="he-IL" dirty="0"/>
              <a:t>כבדות – עיבוד תמונה, חישובים מתמטיים וכו’.</a:t>
            </a:r>
          </a:p>
          <a:p>
            <a:r>
              <a:rPr lang="en-US" dirty="0"/>
              <a:t>from multiprocessing import Process</a:t>
            </a:r>
          </a:p>
          <a:p>
            <a:endParaRPr lang="en-US" dirty="0"/>
          </a:p>
          <a:p>
            <a:r>
              <a:rPr lang="en-US" dirty="0"/>
              <a:t>def calc():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range(10**7):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*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processes = [Process(target=calc) for _ in range(4)]</a:t>
            </a:r>
          </a:p>
          <a:p>
            <a:r>
              <a:rPr lang="en-US" dirty="0"/>
              <a:t>for p in processes: </a:t>
            </a:r>
            <a:r>
              <a:rPr lang="en-US" dirty="0" err="1"/>
              <a:t>p.start</a:t>
            </a:r>
            <a:r>
              <a:rPr lang="en-US" dirty="0"/>
              <a:t>()</a:t>
            </a:r>
          </a:p>
          <a:p>
            <a:r>
              <a:rPr lang="en-US" dirty="0"/>
              <a:t>for p in processes: </a:t>
            </a:r>
            <a:r>
              <a:rPr lang="en-US" dirty="0" err="1"/>
              <a:t>p.join</a:t>
            </a:r>
            <a:r>
              <a:rPr lang="en-US" dirty="0"/>
              <a:t>()</a:t>
            </a:r>
          </a:p>
          <a:p>
            <a:r>
              <a:rPr lang="he-IL" dirty="0"/>
              <a:t>🧠 כל תהליך משתמש בליבה אחרת → ריצה </a:t>
            </a:r>
            <a:r>
              <a:rPr lang="he-IL" dirty="0" err="1"/>
              <a:t>אמיתית</a:t>
            </a:r>
            <a:r>
              <a:rPr lang="he-IL" dirty="0"/>
              <a:t> במקביל.</a:t>
            </a:r>
            <a:br>
              <a:rPr lang="he-IL" dirty="0"/>
            </a:br>
            <a:r>
              <a:rPr lang="he-IL" dirty="0"/>
              <a:t>⚠️ תקשורת ביניהם איטית יותר (לא חולקים זיכרון).</a:t>
            </a:r>
          </a:p>
        </p:txBody>
      </p:sp>
    </p:spTree>
    <p:extLst>
      <p:ext uri="{BB962C8B-B14F-4D97-AF65-F5344CB8AC3E}">
        <p14:creationId xmlns:p14="http://schemas.microsoft.com/office/powerpoint/2010/main" val="1380016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98B1AF-B07D-49B8-91B4-A5297FAF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F90C1A-25CF-4295-B5EE-C7B4FB2C3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asyncio</a:t>
            </a:r>
            <a:r>
              <a:rPr lang="en-US" dirty="0"/>
              <a:t> – </a:t>
            </a:r>
            <a:r>
              <a:rPr lang="he-IL" dirty="0"/>
              <a:t>תכנות </a:t>
            </a:r>
            <a:r>
              <a:rPr lang="he-IL" dirty="0" err="1"/>
              <a:t>אסינכרונימה</a:t>
            </a:r>
            <a:r>
              <a:rPr lang="he-IL" dirty="0"/>
              <a:t> </a:t>
            </a:r>
            <a:r>
              <a:rPr lang="he-IL" dirty="0" err="1"/>
              <a:t>זה:גישה</a:t>
            </a:r>
            <a:r>
              <a:rPr lang="he-IL" dirty="0"/>
              <a:t> מודרנית שמבוססת על </a:t>
            </a:r>
            <a:r>
              <a:rPr lang="en-US" dirty="0"/>
              <a:t>event loop — </a:t>
            </a:r>
            <a:r>
              <a:rPr lang="he-IL" dirty="0"/>
              <a:t>מנגנון שמבצע “קפיצות” בין משימות בזמן שהן מחכות ל־</a:t>
            </a:r>
            <a:r>
              <a:rPr lang="en-US" dirty="0"/>
              <a:t>IO.</a:t>
            </a:r>
            <a:r>
              <a:rPr lang="he-IL" dirty="0"/>
              <a:t>הכול רץ בתהליך אחד, אבל לא </a:t>
            </a:r>
            <a:r>
              <a:rPr lang="he-IL" dirty="0" err="1"/>
              <a:t>נחסם.מתאים</a:t>
            </a:r>
            <a:r>
              <a:rPr lang="he-IL" dirty="0"/>
              <a:t> ל:אלפי משימות </a:t>
            </a:r>
            <a:r>
              <a:rPr lang="en-US" dirty="0"/>
              <a:t>IO </a:t>
            </a:r>
            <a:r>
              <a:rPr lang="he-IL" dirty="0"/>
              <a:t>במקביל (כמו שרתים, בקשות </a:t>
            </a:r>
            <a:r>
              <a:rPr lang="en-US" dirty="0"/>
              <a:t>API).</a:t>
            </a:r>
            <a:endParaRPr lang="he-IL" dirty="0"/>
          </a:p>
          <a:p>
            <a:r>
              <a:rPr lang="en-US" dirty="0"/>
              <a:t>import </a:t>
            </a:r>
            <a:r>
              <a:rPr lang="en-US" dirty="0" err="1"/>
              <a:t>asyncio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aiohttp</a:t>
            </a:r>
            <a:endParaRPr lang="en-US" dirty="0"/>
          </a:p>
          <a:p>
            <a:endParaRPr lang="en-US" dirty="0"/>
          </a:p>
          <a:p>
            <a:r>
              <a:rPr lang="en-US" dirty="0"/>
              <a:t>async def fetch(</a:t>
            </a:r>
            <a:r>
              <a:rPr lang="en-US" dirty="0" err="1"/>
              <a:t>url</a:t>
            </a:r>
            <a:r>
              <a:rPr lang="en-US" dirty="0"/>
              <a:t>):</a:t>
            </a:r>
          </a:p>
          <a:p>
            <a:r>
              <a:rPr lang="en-US" dirty="0"/>
              <a:t>    async with </a:t>
            </a:r>
            <a:r>
              <a:rPr lang="en-US" dirty="0" err="1"/>
              <a:t>aiohttp.ClientSession</a:t>
            </a:r>
            <a:r>
              <a:rPr lang="en-US" dirty="0"/>
              <a:t>() as s:</a:t>
            </a:r>
          </a:p>
          <a:p>
            <a:r>
              <a:rPr lang="en-US" dirty="0"/>
              <a:t>        async with </a:t>
            </a:r>
            <a:r>
              <a:rPr lang="en-US" dirty="0" err="1"/>
              <a:t>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 as r:</a:t>
            </a:r>
          </a:p>
          <a:p>
            <a:r>
              <a:rPr lang="en-US" dirty="0"/>
              <a:t>            return await </a:t>
            </a:r>
            <a:r>
              <a:rPr lang="en-US" dirty="0" err="1"/>
              <a:t>r.text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async def main():</a:t>
            </a:r>
          </a:p>
          <a:p>
            <a:r>
              <a:rPr lang="en-US" dirty="0"/>
              <a:t>    </a:t>
            </a:r>
            <a:r>
              <a:rPr lang="en-US" dirty="0" err="1"/>
              <a:t>urls</a:t>
            </a:r>
            <a:r>
              <a:rPr lang="en-US" dirty="0"/>
              <a:t> = ["https://example.com"] * 5</a:t>
            </a:r>
          </a:p>
          <a:p>
            <a:r>
              <a:rPr lang="en-US" dirty="0"/>
              <a:t>    results = await </a:t>
            </a:r>
            <a:r>
              <a:rPr lang="en-US" dirty="0" err="1"/>
              <a:t>asyncio.gather</a:t>
            </a:r>
            <a:r>
              <a:rPr lang="en-US" dirty="0"/>
              <a:t>(*(fetch(u) for u in </a:t>
            </a:r>
            <a:r>
              <a:rPr lang="en-US" dirty="0" err="1"/>
              <a:t>urls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 err="1"/>
              <a:t>asyncio.run</a:t>
            </a:r>
            <a:r>
              <a:rPr lang="en-US" dirty="0"/>
              <a:t>(main())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96138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1AE23A-CD26-4B0C-8AC2-3C4D0065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עובד ה־</a:t>
            </a:r>
            <a:r>
              <a:rPr lang="en-US" dirty="0"/>
              <a:t>Event Loop </a:t>
            </a:r>
            <a:r>
              <a:rPr lang="he-IL" dirty="0"/>
              <a:t>של </a:t>
            </a:r>
            <a:r>
              <a:rPr lang="en-US" dirty="0" err="1"/>
              <a:t>asyncio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878E416-FB39-4F69-9741-439E38FA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0189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F91926-22B4-47DA-826E-CB072FDB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F7C31B-1473-4897-9525-1ABFA9B5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6448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4EFA9B-2D17-455C-900E-B5D05D41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FE80C17-4558-4D85-B86F-3FCDBA40C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Threading</a:t>
            </a:r>
            <a:r>
              <a:rPr lang="en-US" dirty="0"/>
              <a:t> </a:t>
            </a:r>
            <a:r>
              <a:rPr lang="he-IL" dirty="0"/>
              <a:t>ו־</a:t>
            </a:r>
            <a:r>
              <a:rPr lang="en-US" b="1" dirty="0" err="1"/>
              <a:t>Asyncio</a:t>
            </a:r>
            <a:r>
              <a:rPr lang="en-US" dirty="0"/>
              <a:t> </a:t>
            </a:r>
            <a:r>
              <a:rPr lang="he-IL" dirty="0"/>
              <a:t>שניהם מספקים </a:t>
            </a:r>
            <a:r>
              <a:rPr lang="en-US" i="1" dirty="0"/>
              <a:t>Concurrency</a:t>
            </a:r>
            <a:r>
              <a:rPr lang="en-US" dirty="0"/>
              <a:t> (</a:t>
            </a:r>
            <a:r>
              <a:rPr lang="he-IL" dirty="0"/>
              <a:t>ריבוי משימות בזמן כולל אחד),</a:t>
            </a:r>
            <a:br>
              <a:rPr lang="he-IL" dirty="0"/>
            </a:br>
            <a:r>
              <a:rPr lang="he-IL" dirty="0"/>
              <a:t>אבל:</a:t>
            </a:r>
          </a:p>
          <a:p>
            <a:r>
              <a:rPr lang="en-US" b="1" dirty="0"/>
              <a:t>Threading</a:t>
            </a:r>
            <a:r>
              <a:rPr lang="en-US" dirty="0"/>
              <a:t> </a:t>
            </a:r>
            <a:r>
              <a:rPr lang="he-IL" dirty="0"/>
              <a:t>הוא </a:t>
            </a:r>
            <a:r>
              <a:rPr lang="en-US" i="1" dirty="0"/>
              <a:t>Concurrency </a:t>
            </a:r>
            <a:r>
              <a:rPr lang="he-IL" i="1" dirty="0"/>
              <a:t>מבוסס </a:t>
            </a:r>
            <a:r>
              <a:rPr lang="en-US" i="1" dirty="0"/>
              <a:t>Threads </a:t>
            </a:r>
            <a:r>
              <a:rPr lang="he-IL" i="1" dirty="0" err="1"/>
              <a:t>אמיתיים</a:t>
            </a:r>
            <a:endParaRPr lang="he-IL" dirty="0"/>
          </a:p>
          <a:p>
            <a:r>
              <a:rPr lang="en-US" b="1" dirty="0" err="1"/>
              <a:t>Asyncio</a:t>
            </a:r>
            <a:r>
              <a:rPr lang="en-US" dirty="0"/>
              <a:t> </a:t>
            </a:r>
            <a:r>
              <a:rPr lang="he-IL" dirty="0"/>
              <a:t>הוא </a:t>
            </a:r>
            <a:r>
              <a:rPr lang="en-US" i="1" dirty="0"/>
              <a:t>Concurrency </a:t>
            </a:r>
            <a:r>
              <a:rPr lang="he-IL" i="1" dirty="0"/>
              <a:t>אסינכרוני מבוסס </a:t>
            </a:r>
            <a:r>
              <a:rPr lang="en-US" i="1" dirty="0"/>
              <a:t>Event Loop</a:t>
            </a:r>
            <a:endParaRPr lang="en-US" dirty="0"/>
          </a:p>
          <a:p>
            <a:r>
              <a:rPr lang="he-IL" dirty="0"/>
              <a:t>בגלל ה־</a:t>
            </a:r>
            <a:r>
              <a:rPr lang="en-US" b="1" dirty="0"/>
              <a:t>GIL</a:t>
            </a:r>
            <a:r>
              <a:rPr lang="en-US" dirty="0"/>
              <a:t>, </a:t>
            </a:r>
            <a:r>
              <a:rPr lang="he-IL" dirty="0"/>
              <a:t>שניהם </a:t>
            </a:r>
            <a:r>
              <a:rPr lang="he-IL" b="1" dirty="0"/>
              <a:t>לא מספקים </a:t>
            </a:r>
            <a:r>
              <a:rPr lang="en-US" b="1" dirty="0"/>
              <a:t>Parallelism </a:t>
            </a:r>
            <a:r>
              <a:rPr lang="he-IL" b="1" dirty="0" err="1"/>
              <a:t>אמיתי</a:t>
            </a:r>
            <a:r>
              <a:rPr lang="he-IL" b="1" dirty="0"/>
              <a:t> בקוד </a:t>
            </a:r>
            <a:r>
              <a:rPr lang="en-US" b="1" dirty="0"/>
              <a:t>Python CPU-bound</a:t>
            </a:r>
            <a:br>
              <a:rPr lang="en-US" dirty="0"/>
            </a:br>
            <a:r>
              <a:rPr lang="he-IL" dirty="0"/>
              <a:t>ולכן שניהם מוגבלים למשימות </a:t>
            </a:r>
            <a:r>
              <a:rPr lang="en-US" b="1" dirty="0"/>
              <a:t>I/O </a:t>
            </a:r>
            <a:r>
              <a:rPr lang="he-IL" b="1" dirty="0"/>
              <a:t>ולא </a:t>
            </a:r>
            <a:r>
              <a:rPr lang="en-US" b="1" dirty="0"/>
              <a:t>CPU</a:t>
            </a:r>
            <a:r>
              <a:rPr lang="en-US" dirty="0"/>
              <a:t>.</a:t>
            </a:r>
          </a:p>
          <a:p>
            <a:r>
              <a:rPr lang="he-IL" dirty="0"/>
              <a:t>כלומר – </a:t>
            </a:r>
            <a:r>
              <a:rPr lang="he-IL" b="1" dirty="0"/>
              <a:t>שניהם מסוגלים לתת ריבוי משימות (</a:t>
            </a:r>
            <a:r>
              <a:rPr lang="en-US" b="1" dirty="0"/>
              <a:t>Concurrency), </a:t>
            </a:r>
            <a:r>
              <a:rPr lang="he-IL" b="1" dirty="0"/>
              <a:t>אבל לא מקביליות (</a:t>
            </a:r>
            <a:r>
              <a:rPr lang="en-US" b="1" dirty="0"/>
              <a:t>Parallelism) </a:t>
            </a:r>
            <a:r>
              <a:rPr lang="he-IL" b="1" dirty="0"/>
              <a:t>בגלל ה־</a:t>
            </a:r>
            <a:r>
              <a:rPr lang="en-US" b="1" dirty="0"/>
              <a:t>GIL.</a:t>
            </a: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33790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A43905-BEAE-4421-9222-C4176497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39AA1D0-BE76-4D91-9DD4-D0ACB1E8D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אז מה </a:t>
            </a:r>
            <a:r>
              <a:rPr lang="he-IL" dirty="0" err="1"/>
              <a:t>הדקויות?כדי</a:t>
            </a:r>
            <a:r>
              <a:rPr lang="he-IL" dirty="0"/>
              <a:t> להיות מדויק:🧵 </a:t>
            </a:r>
            <a:r>
              <a:rPr lang="en-US" dirty="0"/>
              <a:t>Threading = concurrency </a:t>
            </a:r>
            <a:r>
              <a:rPr lang="he-IL" dirty="0"/>
              <a:t>ברמת מערכת </a:t>
            </a:r>
            <a:r>
              <a:rPr lang="he-IL" dirty="0" err="1"/>
              <a:t>ההפעלהיש</a:t>
            </a:r>
            <a:r>
              <a:rPr lang="he-IL" dirty="0"/>
              <a:t> כמה </a:t>
            </a:r>
            <a:r>
              <a:rPr lang="en-US" dirty="0"/>
              <a:t>threads </a:t>
            </a:r>
            <a:r>
              <a:rPr lang="he-IL" dirty="0" err="1"/>
              <a:t>אמיתייםה</a:t>
            </a:r>
            <a:r>
              <a:rPr lang="he-IL" dirty="0"/>
              <a:t>־</a:t>
            </a:r>
            <a:r>
              <a:rPr lang="en-US" dirty="0"/>
              <a:t>OS </a:t>
            </a:r>
            <a:r>
              <a:rPr lang="he-IL" dirty="0"/>
              <a:t>מתזמן </a:t>
            </a:r>
            <a:r>
              <a:rPr lang="he-IL" dirty="0" err="1"/>
              <a:t>אותםאך</a:t>
            </a:r>
            <a:r>
              <a:rPr lang="he-IL" dirty="0"/>
              <a:t> ה־</a:t>
            </a:r>
            <a:r>
              <a:rPr lang="en-US" dirty="0"/>
              <a:t>GIL </a:t>
            </a:r>
            <a:r>
              <a:rPr lang="he-IL" dirty="0"/>
              <a:t>מונע מהרצה מקבילית </a:t>
            </a:r>
            <a:r>
              <a:rPr lang="he-IL" dirty="0" err="1"/>
              <a:t>אמיתית</a:t>
            </a:r>
            <a:r>
              <a:rPr lang="he-IL" dirty="0"/>
              <a:t> של קוד </a:t>
            </a:r>
            <a:r>
              <a:rPr lang="he-IL" dirty="0" err="1"/>
              <a:t>פייתוןבזמן</a:t>
            </a:r>
            <a:r>
              <a:rPr lang="he-IL" dirty="0"/>
              <a:t> </a:t>
            </a:r>
            <a:r>
              <a:rPr lang="en-US" dirty="0"/>
              <a:t>I/O </a:t>
            </a:r>
            <a:r>
              <a:rPr lang="he-IL" dirty="0"/>
              <a:t>ה־</a:t>
            </a:r>
            <a:r>
              <a:rPr lang="en-US" dirty="0"/>
              <a:t>GIL </a:t>
            </a:r>
            <a:r>
              <a:rPr lang="he-IL" dirty="0"/>
              <a:t>משוחרר ולכן </a:t>
            </a:r>
            <a:r>
              <a:rPr lang="en-US" dirty="0"/>
              <a:t>threads </a:t>
            </a:r>
            <a:r>
              <a:rPr lang="he-IL" dirty="0"/>
              <a:t>אחרים כן יכולים לרוץ</a:t>
            </a:r>
            <a:r>
              <a:rPr lang="en-US" dirty="0"/>
              <a:t>Threading </a:t>
            </a:r>
            <a:r>
              <a:rPr lang="he-IL" dirty="0"/>
              <a:t>הוא </a:t>
            </a:r>
            <a:r>
              <a:rPr lang="en-US" dirty="0"/>
              <a:t>concurrency </a:t>
            </a:r>
            <a:r>
              <a:rPr lang="he-IL" dirty="0"/>
              <a:t>פיזי, אבל לא </a:t>
            </a:r>
            <a:r>
              <a:rPr lang="en-US" dirty="0"/>
              <a:t>parallel </a:t>
            </a:r>
            <a:r>
              <a:rPr lang="he-IL" dirty="0"/>
              <a:t>פיזי בקוד </a:t>
            </a:r>
            <a:r>
              <a:rPr lang="en-US" dirty="0"/>
              <a:t>Python.</a:t>
            </a:r>
            <a:endParaRPr lang="he-IL" dirty="0"/>
          </a:p>
          <a:p>
            <a:endParaRPr lang="he-IL" dirty="0"/>
          </a:p>
          <a:p>
            <a:r>
              <a:rPr lang="en-US" dirty="0" err="1"/>
              <a:t>Asyncio</a:t>
            </a:r>
            <a:r>
              <a:rPr lang="en-US" dirty="0"/>
              <a:t> = concurrency </a:t>
            </a:r>
            <a:r>
              <a:rPr lang="he-IL" dirty="0"/>
              <a:t>אסינכרוני (ללא </a:t>
            </a:r>
            <a:r>
              <a:rPr lang="en-US" dirty="0"/>
              <a:t>Threads)</a:t>
            </a:r>
            <a:r>
              <a:rPr lang="he-IL" dirty="0"/>
              <a:t>ריצה בתוך תהליך יחיד ו־</a:t>
            </a:r>
            <a:r>
              <a:rPr lang="en-US" dirty="0"/>
              <a:t>Thread </a:t>
            </a:r>
            <a:r>
              <a:rPr lang="he-IL" dirty="0" err="1"/>
              <a:t>יחידאין</a:t>
            </a:r>
            <a:r>
              <a:rPr lang="he-IL" dirty="0"/>
              <a:t> מעבר בין </a:t>
            </a:r>
            <a:r>
              <a:rPr lang="en-US" dirty="0"/>
              <a:t>Threads → </a:t>
            </a:r>
            <a:r>
              <a:rPr lang="he-IL" dirty="0"/>
              <a:t>אין </a:t>
            </a:r>
            <a:r>
              <a:rPr lang="en-US" dirty="0"/>
              <a:t>GIL overhead</a:t>
            </a:r>
            <a:r>
              <a:rPr lang="he-IL" dirty="0"/>
              <a:t>מבוסס </a:t>
            </a:r>
            <a:r>
              <a:rPr lang="en-US" dirty="0"/>
              <a:t>Event Loop </a:t>
            </a:r>
            <a:r>
              <a:rPr lang="he-IL" dirty="0"/>
              <a:t>שעובר בין משימות כשמגיע “</a:t>
            </a:r>
            <a:r>
              <a:rPr lang="en-US" dirty="0" err="1"/>
              <a:t>await”Asyncio</a:t>
            </a:r>
            <a:r>
              <a:rPr lang="en-US" dirty="0"/>
              <a:t> </a:t>
            </a:r>
            <a:r>
              <a:rPr lang="he-IL" dirty="0"/>
              <a:t>הוא </a:t>
            </a:r>
            <a:r>
              <a:rPr lang="en-US" dirty="0"/>
              <a:t>concurrency </a:t>
            </a:r>
            <a:r>
              <a:rPr lang="he-IL" dirty="0"/>
              <a:t>לוגי, ללא </a:t>
            </a:r>
            <a:r>
              <a:rPr lang="en-US" dirty="0"/>
              <a:t>Parallelism </a:t>
            </a:r>
            <a:r>
              <a:rPr lang="he-IL" dirty="0"/>
              <a:t>כלל.</a:t>
            </a:r>
          </a:p>
        </p:txBody>
      </p:sp>
    </p:spTree>
    <p:extLst>
      <p:ext uri="{BB962C8B-B14F-4D97-AF65-F5344CB8AC3E}">
        <p14:creationId xmlns:p14="http://schemas.microsoft.com/office/powerpoint/2010/main" val="3163512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453B20-205C-4120-8804-5B01CF48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באיזה כלי משתמשים בפועל — </a:t>
            </a:r>
            <a:r>
              <a:rPr lang="en-US" b="1" dirty="0"/>
              <a:t>Threading </a:t>
            </a:r>
            <a:r>
              <a:rPr lang="he-IL" b="1" dirty="0"/>
              <a:t>או </a:t>
            </a:r>
            <a:r>
              <a:rPr lang="en-US" b="1" dirty="0" err="1"/>
              <a:t>Asyncio</a:t>
            </a:r>
            <a:r>
              <a:rPr lang="en-US" b="1" dirty="0"/>
              <a:t>, </a:t>
            </a:r>
            <a:r>
              <a:rPr lang="he-IL" b="1" dirty="0"/>
              <a:t>ולמה?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07FA50-18C3-47EC-ACBB-AAECD158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מתי משתמשים ב־</a:t>
            </a:r>
            <a:r>
              <a:rPr lang="en-US" dirty="0" err="1"/>
              <a:t>ASYNClO</a:t>
            </a:r>
            <a:r>
              <a:rPr lang="en-US" dirty="0"/>
              <a:t> </a:t>
            </a:r>
            <a:r>
              <a:rPr lang="he-IL" dirty="0"/>
              <a:t>בפועל – ולמה?</a:t>
            </a:r>
            <a:r>
              <a:rPr lang="en-US" dirty="0" err="1"/>
              <a:t>Asyncio</a:t>
            </a:r>
            <a:r>
              <a:rPr lang="en-US" dirty="0"/>
              <a:t> </a:t>
            </a:r>
            <a:r>
              <a:rPr lang="he-IL" dirty="0"/>
              <a:t>הוא מנגנון ה־</a:t>
            </a:r>
            <a:r>
              <a:rPr lang="en-US" dirty="0"/>
              <a:t>Concurrency </a:t>
            </a:r>
            <a:r>
              <a:rPr lang="he-IL" dirty="0"/>
              <a:t>המוביל כיום </a:t>
            </a:r>
            <a:r>
              <a:rPr lang="he-IL" dirty="0" err="1"/>
              <a:t>בפייתון</a:t>
            </a:r>
            <a:r>
              <a:rPr lang="he-IL" dirty="0"/>
              <a:t> עבור רשת ו־</a:t>
            </a:r>
            <a:r>
              <a:rPr lang="en-US" dirty="0"/>
              <a:t>IO.</a:t>
            </a:r>
            <a:r>
              <a:rPr lang="he-IL" dirty="0"/>
              <a:t>למה משתמשים </a:t>
            </a:r>
            <a:r>
              <a:rPr lang="he-IL" dirty="0" err="1"/>
              <a:t>בו?יעיל</a:t>
            </a:r>
            <a:r>
              <a:rPr lang="he-IL" dirty="0"/>
              <a:t> במיוחד למשימות </a:t>
            </a:r>
            <a:r>
              <a:rPr lang="en-US" dirty="0"/>
              <a:t>IO</a:t>
            </a:r>
            <a:r>
              <a:rPr lang="he-IL" dirty="0"/>
              <a:t>צורך מעט </a:t>
            </a:r>
            <a:r>
              <a:rPr lang="he-IL" dirty="0" err="1"/>
              <a:t>זיכרוןמאפשר</a:t>
            </a:r>
            <a:r>
              <a:rPr lang="he-IL" dirty="0"/>
              <a:t> לטפל באלפי משימות </a:t>
            </a:r>
            <a:r>
              <a:rPr lang="he-IL" dirty="0" err="1"/>
              <a:t>במקבילהתחביר</a:t>
            </a:r>
            <a:r>
              <a:rPr lang="he-IL" dirty="0"/>
              <a:t> (</a:t>
            </a:r>
            <a:r>
              <a:rPr lang="en-US" dirty="0"/>
              <a:t>async/await) </a:t>
            </a:r>
            <a:r>
              <a:rPr lang="he-IL" dirty="0"/>
              <a:t>קריא </a:t>
            </a:r>
            <a:r>
              <a:rPr lang="he-IL" dirty="0" err="1"/>
              <a:t>וברוררוב</a:t>
            </a:r>
            <a:r>
              <a:rPr lang="he-IL" dirty="0"/>
              <a:t> </a:t>
            </a:r>
            <a:r>
              <a:rPr lang="he-IL" dirty="0" err="1"/>
              <a:t>הפריימוורקים</a:t>
            </a:r>
            <a:r>
              <a:rPr lang="he-IL" dirty="0"/>
              <a:t> המודרניים עובדים </a:t>
            </a:r>
            <a:r>
              <a:rPr lang="he-IL" dirty="0" err="1"/>
              <a:t>איתואיפה</a:t>
            </a:r>
            <a:r>
              <a:rPr lang="he-IL" dirty="0"/>
              <a:t> משתמשים בו </a:t>
            </a:r>
            <a:r>
              <a:rPr lang="he-IL" dirty="0" err="1"/>
              <a:t>בתעשייה?שרתי</a:t>
            </a:r>
            <a:r>
              <a:rPr lang="he-IL" dirty="0"/>
              <a:t> </a:t>
            </a:r>
            <a:r>
              <a:rPr lang="en-US" dirty="0"/>
              <a:t>Web (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aiohttp</a:t>
            </a:r>
            <a:r>
              <a:rPr lang="en-US" dirty="0"/>
              <a:t>, </a:t>
            </a:r>
            <a:r>
              <a:rPr lang="en-US" dirty="0" err="1"/>
              <a:t>Sanic</a:t>
            </a:r>
            <a:r>
              <a:rPr lang="en-US" dirty="0"/>
              <a:t>)</a:t>
            </a:r>
            <a:r>
              <a:rPr lang="he-IL" dirty="0"/>
              <a:t>תקשורת רשת בקנה מידה </a:t>
            </a:r>
            <a:r>
              <a:rPr lang="he-IL" dirty="0" err="1"/>
              <a:t>גדולבוטים</a:t>
            </a:r>
            <a:r>
              <a:rPr lang="he-IL" dirty="0"/>
              <a:t> של </a:t>
            </a:r>
            <a:r>
              <a:rPr lang="en-US" dirty="0"/>
              <a:t>Discord / Telegram</a:t>
            </a:r>
            <a:r>
              <a:rPr lang="he-IL" dirty="0"/>
              <a:t>קליינטים אסינכרוניים ל־</a:t>
            </a:r>
            <a:r>
              <a:rPr lang="en-US" dirty="0"/>
              <a:t>API</a:t>
            </a:r>
            <a:r>
              <a:rPr lang="he-IL" dirty="0"/>
              <a:t>מערכות </a:t>
            </a:r>
            <a:r>
              <a:rPr lang="en-US" dirty="0"/>
              <a:t>Streaming</a:t>
            </a:r>
            <a:r>
              <a:rPr lang="he-IL" dirty="0"/>
              <a:t>שירותי מיקרו-סרוויסים עם הרבה </a:t>
            </a:r>
            <a:r>
              <a:rPr lang="he-IL" dirty="0" err="1"/>
              <a:t>קישוריותדוגמה</a:t>
            </a:r>
            <a:r>
              <a:rPr lang="he-IL" dirty="0"/>
              <a:t> למה </a:t>
            </a:r>
            <a:r>
              <a:rPr lang="en-US" dirty="0" err="1"/>
              <a:t>asyncio</a:t>
            </a:r>
            <a:r>
              <a:rPr lang="en-US" dirty="0"/>
              <a:t> </a:t>
            </a:r>
            <a:r>
              <a:rPr lang="he-IL" dirty="0" err="1"/>
              <a:t>עדיף:אם</a:t>
            </a:r>
            <a:r>
              <a:rPr lang="he-IL" dirty="0"/>
              <a:t> צריך לבצע 5,000 בקשות </a:t>
            </a:r>
            <a:r>
              <a:rPr lang="en-US" dirty="0"/>
              <a:t>HTTP </a:t>
            </a:r>
            <a:r>
              <a:rPr lang="he-IL" dirty="0"/>
              <a:t>במקביל →</a:t>
            </a:r>
            <a:r>
              <a:rPr lang="en-US" dirty="0"/>
              <a:t>Threading </a:t>
            </a:r>
            <a:r>
              <a:rPr lang="he-IL" dirty="0"/>
              <a:t>יקר לזיכרון ויתקע.</a:t>
            </a:r>
            <a:r>
              <a:rPr lang="en-US" dirty="0" err="1"/>
              <a:t>Asyncio</a:t>
            </a:r>
            <a:r>
              <a:rPr lang="en-US" dirty="0"/>
              <a:t> </a:t>
            </a:r>
            <a:r>
              <a:rPr lang="he-IL" dirty="0"/>
              <a:t>עושה זאת בקלות בתהליך </a:t>
            </a:r>
            <a:r>
              <a:rPr lang="he-IL" dirty="0" err="1"/>
              <a:t>אחד.לכן</a:t>
            </a:r>
            <a:r>
              <a:rPr lang="he-IL" dirty="0"/>
              <a:t>:</a:t>
            </a:r>
            <a:r>
              <a:rPr lang="en-US" dirty="0" err="1"/>
              <a:t>Asyncio</a:t>
            </a:r>
            <a:r>
              <a:rPr lang="en-US" dirty="0"/>
              <a:t> </a:t>
            </a:r>
            <a:r>
              <a:rPr lang="he-IL" dirty="0"/>
              <a:t>הוא הבחירה הטבעית למערכות רשת מודרניות.</a:t>
            </a:r>
          </a:p>
        </p:txBody>
      </p:sp>
    </p:spTree>
    <p:extLst>
      <p:ext uri="{BB962C8B-B14F-4D97-AF65-F5344CB8AC3E}">
        <p14:creationId xmlns:p14="http://schemas.microsoft.com/office/powerpoint/2010/main" val="2247557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C2D2C1-BEF5-4F60-817A-6C0A1D05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F795E17-7162-49D8-B5FB-ABF6DF6E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. מתי משתמשים ב־</a:t>
            </a:r>
            <a:r>
              <a:rPr lang="en-US" dirty="0"/>
              <a:t>THREADING </a:t>
            </a:r>
            <a:r>
              <a:rPr lang="he-IL" dirty="0"/>
              <a:t>בפועל – ולמה?</a:t>
            </a:r>
            <a:r>
              <a:rPr lang="en-US" dirty="0"/>
              <a:t>Threading </a:t>
            </a:r>
            <a:r>
              <a:rPr lang="he-IL" dirty="0"/>
              <a:t>מתאים כשאתה עובד עם קוד ישן, או עם ספריות שלא תומכות ב־</a:t>
            </a:r>
            <a:r>
              <a:rPr lang="en-US" dirty="0" err="1"/>
              <a:t>asyncio</a:t>
            </a:r>
            <a:r>
              <a:rPr lang="en-US" dirty="0"/>
              <a:t>.</a:t>
            </a:r>
            <a:r>
              <a:rPr lang="he-IL" dirty="0"/>
              <a:t>למה עדיין משתמשים </a:t>
            </a:r>
            <a:r>
              <a:rPr lang="he-IL" dirty="0" err="1"/>
              <a:t>בו?לא</a:t>
            </a:r>
            <a:r>
              <a:rPr lang="he-IL" dirty="0"/>
              <a:t> כל הספריות </a:t>
            </a:r>
            <a:r>
              <a:rPr lang="he-IL" dirty="0" err="1"/>
              <a:t>בפייתון</a:t>
            </a:r>
            <a:r>
              <a:rPr lang="he-IL" dirty="0"/>
              <a:t> תומכות ב־</a:t>
            </a:r>
            <a:r>
              <a:rPr lang="en-US" dirty="0"/>
              <a:t>async (</a:t>
            </a:r>
            <a:r>
              <a:rPr lang="he-IL" dirty="0"/>
              <a:t>למשל: </a:t>
            </a:r>
            <a:r>
              <a:rPr lang="en-US" dirty="0"/>
              <a:t>requests)</a:t>
            </a:r>
            <a:r>
              <a:rPr lang="he-IL" dirty="0"/>
              <a:t>לפעמים צריך רק כמה </a:t>
            </a:r>
            <a:r>
              <a:rPr lang="en-US" dirty="0"/>
              <a:t>Threads </a:t>
            </a:r>
            <a:r>
              <a:rPr lang="he-IL" dirty="0"/>
              <a:t>בודדים — וזה פשוט </a:t>
            </a:r>
            <a:r>
              <a:rPr lang="he-IL" dirty="0" err="1"/>
              <a:t>ומהירמתאים</a:t>
            </a:r>
            <a:r>
              <a:rPr lang="he-IL" dirty="0"/>
              <a:t> במיוחד לאפליקציות </a:t>
            </a:r>
            <a:r>
              <a:rPr lang="en-US" dirty="0"/>
              <a:t>Desktop (</a:t>
            </a:r>
            <a:r>
              <a:rPr lang="en-US" dirty="0" err="1"/>
              <a:t>Tkinter</a:t>
            </a:r>
            <a:r>
              <a:rPr lang="en-US" dirty="0"/>
              <a:t>, </a:t>
            </a:r>
            <a:r>
              <a:rPr lang="en-US" dirty="0" err="1"/>
              <a:t>PyQt</a:t>
            </a:r>
            <a:r>
              <a:rPr lang="en-US" dirty="0"/>
              <a:t>)</a:t>
            </a:r>
            <a:r>
              <a:rPr lang="he-IL" dirty="0"/>
              <a:t>מאפשר ביצוע משימות רקע בלי לגעת בלולאת </a:t>
            </a:r>
            <a:r>
              <a:rPr lang="he-IL" dirty="0" err="1"/>
              <a:t>אירועיםאיפה</a:t>
            </a:r>
            <a:r>
              <a:rPr lang="he-IL" dirty="0"/>
              <a:t> רואים אותו </a:t>
            </a:r>
            <a:r>
              <a:rPr lang="he-IL" dirty="0" err="1"/>
              <a:t>בשימוש?אוטומציה</a:t>
            </a:r>
            <a:r>
              <a:rPr lang="he-IL" dirty="0"/>
              <a:t> (</a:t>
            </a:r>
            <a:r>
              <a:rPr lang="en-US" dirty="0"/>
              <a:t>Selenium / UI automation)</a:t>
            </a:r>
            <a:r>
              <a:rPr lang="he-IL" dirty="0"/>
              <a:t>כל שימוש ב־</a:t>
            </a:r>
            <a:r>
              <a:rPr lang="en-US" dirty="0"/>
              <a:t>requests</a:t>
            </a:r>
            <a:r>
              <a:rPr lang="he-IL" dirty="0"/>
              <a:t>עבודה עם ספריות </a:t>
            </a:r>
            <a:r>
              <a:rPr lang="he-IL" dirty="0" err="1"/>
              <a:t>ישנותתוכנות</a:t>
            </a:r>
            <a:r>
              <a:rPr lang="he-IL" dirty="0"/>
              <a:t> </a:t>
            </a:r>
            <a:r>
              <a:rPr lang="en-US" dirty="0"/>
              <a:t>Desktop</a:t>
            </a:r>
            <a:r>
              <a:rPr lang="he-IL" dirty="0"/>
              <a:t>שימוש בתזמון פשוט של משימות </a:t>
            </a:r>
            <a:r>
              <a:rPr lang="he-IL" dirty="0" err="1"/>
              <a:t>רקעדוגמה</a:t>
            </a:r>
            <a:r>
              <a:rPr lang="he-IL" dirty="0"/>
              <a:t> למה </a:t>
            </a:r>
            <a:r>
              <a:rPr lang="en-US" dirty="0"/>
              <a:t>Threading </a:t>
            </a:r>
            <a:r>
              <a:rPr lang="he-IL" dirty="0" err="1"/>
              <a:t>עדיף:אתה</a:t>
            </a:r>
            <a:r>
              <a:rPr lang="he-IL" dirty="0"/>
              <a:t> בונה כלי פנימי קטן שעושה 5–10 הורדות </a:t>
            </a:r>
            <a:r>
              <a:rPr lang="he-IL" dirty="0" err="1"/>
              <a:t>מהאינטרנט.אין</a:t>
            </a:r>
            <a:r>
              <a:rPr lang="he-IL" dirty="0"/>
              <a:t> ספריות </a:t>
            </a:r>
            <a:r>
              <a:rPr lang="en-US" dirty="0"/>
              <a:t>async </a:t>
            </a:r>
            <a:r>
              <a:rPr lang="he-IL" dirty="0"/>
              <a:t>בשימוש →יותר קל ופשוט לפתוח כמה </a:t>
            </a:r>
            <a:r>
              <a:rPr lang="en-US" dirty="0"/>
              <a:t>Threads.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52206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94495C-1127-48F3-838F-969317C0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09E5D6C-4F2F-4242-AE3C-88E00872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622294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2749</Words>
  <Application>Microsoft Office PowerPoint</Application>
  <PresentationFormat>מסך רחב</PresentationFormat>
  <Paragraphs>257</Paragraphs>
  <Slides>41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ערכת נושא Office</vt:lpstr>
      <vt:lpstr>Multithreading &amp; Async Programming in Python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מהן פעולות I/O (Input/Output)?</vt:lpstr>
      <vt:lpstr>מצגת של PowerPoint‏</vt:lpstr>
      <vt:lpstr>מצגת של PowerPoint‏</vt:lpstr>
      <vt:lpstr>למה בכלל צריך Concurrency ו–Parallelism?</vt:lpstr>
      <vt:lpstr>מצגת של PowerPoint‏</vt:lpstr>
      <vt:lpstr>מצגת של PowerPoint‏</vt:lpstr>
      <vt:lpstr>מצגת של PowerPoint‏</vt:lpstr>
      <vt:lpstr>מה זה בעצם "Concurrency"?</vt:lpstr>
      <vt:lpstr>Concurrency לעומת Parallelism</vt:lpstr>
      <vt:lpstr>מצגת של PowerPoint‏</vt:lpstr>
      <vt:lpstr>איך זה פוגש את Python</vt:lpstr>
      <vt:lpstr>מצגת של PowerPoint‏</vt:lpstr>
      <vt:lpstr>מצגת של PowerPoint‏</vt:lpstr>
      <vt:lpstr>למה בכלל קיים ה־GIL?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שלוש הדרכים לריבוי משימות בפייתון</vt:lpstr>
      <vt:lpstr>מצגת של PowerPoint‏</vt:lpstr>
      <vt:lpstr>מצגת של PowerPoint‏</vt:lpstr>
      <vt:lpstr>מצגת של PowerPoint‏</vt:lpstr>
      <vt:lpstr>איך עובד ה־Event Loop של asyncio</vt:lpstr>
      <vt:lpstr>מצגת של PowerPoint‏</vt:lpstr>
      <vt:lpstr>מצגת של PowerPoint‏</vt:lpstr>
      <vt:lpstr>מצגת של PowerPoint‏</vt:lpstr>
      <vt:lpstr>באיזה כלי משתמשים בפועל — Threading או Asyncio, ולמה?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Multithreading &amp; Async Programming in Python</dc:title>
  <dc:creator>User</dc:creator>
  <cp:lastModifiedBy>User</cp:lastModifiedBy>
  <cp:revision>9</cp:revision>
  <dcterms:created xsi:type="dcterms:W3CDTF">2025-11-13T14:14:58Z</dcterms:created>
  <dcterms:modified xsi:type="dcterms:W3CDTF">2025-11-15T20:24:31Z</dcterms:modified>
</cp:coreProperties>
</file>